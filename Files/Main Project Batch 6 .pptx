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7053263" cy="9309100"/>
  <p:embeddedFontLst>
    <p:embeddedFont>
      <p:font typeface="Roboto Mono" panose="00000009000000000000" pitchFamily="49" charset="0"/>
      <p:regular r:id="rId43"/>
      <p:bold r:id="rId44"/>
      <p:italic r:id="rId45"/>
      <p:boldItalic r:id="rId46"/>
    </p:embeddedFont>
    <p:embeddedFont>
      <p:font typeface="Verdana" panose="020B060403050404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D36DA7-B5A8-4BEA-9BC2-FABB74EA3EE1}">
  <a:tblStyle styleId="{B4D36DA7-B5A8-4BEA-9BC2-FABB74EA3E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55938" cy="4667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95738" y="0"/>
            <a:ext cx="3055937" cy="46672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4850" y="4479925"/>
            <a:ext cx="5643563" cy="36655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2375"/>
            <a:ext cx="3055938" cy="4667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95738" y="8842375"/>
            <a:ext cx="3055937"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txBox="1">
            <a:spLocks noGrp="1"/>
          </p:cNvSpPr>
          <p:nvPr>
            <p:ph type="dt" idx="10"/>
          </p:nvPr>
        </p:nvSpPr>
        <p:spPr>
          <a:xfrm>
            <a:off x="3995738" y="0"/>
            <a:ext cx="3055937" cy="4667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latin typeface="Arial"/>
                <a:ea typeface="Arial"/>
                <a:cs typeface="Arial"/>
                <a:sym typeface="Arial"/>
              </a:rPr>
              <a:t>10/30/2024</a:t>
            </a:r>
            <a:endParaRPr>
              <a:latin typeface="Arial"/>
              <a:ea typeface="Arial"/>
              <a:cs typeface="Arial"/>
              <a:sym typeface="Arial"/>
            </a:endParaRPr>
          </a:p>
        </p:txBody>
      </p:sp>
      <p:sp>
        <p:nvSpPr>
          <p:cNvPr id="33" name="Google Shape;33;p1:notes"/>
          <p:cNvSpPr txBox="1">
            <a:spLocks noGrp="1"/>
          </p:cNvSpPr>
          <p:nvPr>
            <p:ph type="sldNum" idx="12"/>
          </p:nvPr>
        </p:nvSpPr>
        <p:spPr>
          <a:xfrm>
            <a:off x="3995738" y="8842375"/>
            <a:ext cx="3055937" cy="46672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atin typeface="Arial"/>
                <a:ea typeface="Arial"/>
                <a:cs typeface="Arial"/>
                <a:sym typeface="Arial"/>
              </a:rPr>
              <a:t>1</a:t>
            </a:fld>
            <a:endParaRPr>
              <a:latin typeface="Arial"/>
              <a:ea typeface="Arial"/>
              <a:cs typeface="Arial"/>
              <a:sym typeface="Arial"/>
            </a:endParaRPr>
          </a:p>
        </p:txBody>
      </p:sp>
      <p:sp>
        <p:nvSpPr>
          <p:cNvPr id="34" name="Google Shape;34;p1: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1:notes"/>
          <p:cNvSpPr txBox="1">
            <a:spLocks noGrp="1"/>
          </p:cNvSpPr>
          <p:nvPr>
            <p:ph type="body" idx="1"/>
          </p:nvPr>
        </p:nvSpPr>
        <p:spPr>
          <a:xfrm>
            <a:off x="704850" y="4479925"/>
            <a:ext cx="5643563" cy="36655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704850" y="4479925"/>
            <a:ext cx="5643563" cy="36655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2: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3761d0bb5eb_0_0: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3761d0bb5eb_0_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 name="Google Shape;56;g3761d0bb5eb_0_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799e9a9d27_0_0: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99e9a9d27_0_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 name="Google Shape;64;g3799e9a9d27_0_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799e9a9d27_0_21: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799e9a9d27_0_21: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g3799e9a9d27_0_21: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831308a219_0_0: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831308a219_0_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g3831308a219_0_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94def399c_1_0: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794def399c_1_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794def399c_1_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794def399c_1_9: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794def399c_1_9: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g3794def399c_1_9: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9d5bcfdd99_8_11: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9d5bcfdd99_8_11: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g39d5bcfdd99_8_11: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a39edeb163_0_0: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a39edeb163_0_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3a39edeb163_0_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a39edeb163_0_11: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a39edeb163_0_11: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a39edeb163_0_11: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9e1f3f0bb5_0_8: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9e1f3f0bb5_0_8: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9e1f3f0bb5_0_8: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9d5bcfdd99_8_22: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9d5bcfdd99_8_22: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g39d5bcfdd99_8_22: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9d5bcfdd99_8_33: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9d5bcfdd99_8_33: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g39d5bcfdd99_8_33: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9e1f3f0bb5_0_0: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9e1f3f0bb5_0_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39e1f3f0bb5_0_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704850" y="4479925"/>
            <a:ext cx="5643563" cy="3665538"/>
          </a:xfrm>
          <a:prstGeom prst="rect">
            <a:avLst/>
          </a:prstGeom>
        </p:spPr>
        <p:txBody>
          <a:bodyPr spcFirstLastPara="1" wrap="square" lIns="91425" tIns="45700" rIns="91425" bIns="45700" anchor="t" anchorCtr="0">
            <a:noAutofit/>
          </a:bodyPr>
          <a:lstStyle/>
          <a:p>
            <a:pPr marL="0" lvl="0" indent="0" algn="l" rtl="0">
              <a:lnSpc>
                <a:spcPct val="50000"/>
              </a:lnSpc>
              <a:spcBef>
                <a:spcPts val="0"/>
              </a:spcBef>
              <a:spcAft>
                <a:spcPts val="0"/>
              </a:spcAft>
              <a:buNone/>
            </a:pPr>
            <a:r>
              <a:rPr lang="en-US"/>
              <a:t>main, p4, p5, p7</a:t>
            </a:r>
            <a:endParaRPr/>
          </a:p>
          <a:p>
            <a:pPr marL="0" lvl="0" indent="0" algn="l" rtl="0">
              <a:lnSpc>
                <a:spcPct val="50000"/>
              </a:lnSpc>
              <a:spcBef>
                <a:spcPts val="0"/>
              </a:spcBef>
              <a:spcAft>
                <a:spcPts val="0"/>
              </a:spcAft>
              <a:buNone/>
            </a:pPr>
            <a:br>
              <a:rPr lang="en-US"/>
            </a:br>
            <a:r>
              <a:rPr lang="en-US" sz="1100" b="1">
                <a:latin typeface="Arial"/>
                <a:ea typeface="Arial"/>
                <a:cs typeface="Arial"/>
                <a:sym typeface="Arial"/>
              </a:rPr>
              <a:t>In short:</a:t>
            </a:r>
            <a:endParaRPr sz="1100" b="1">
              <a:latin typeface="Arial"/>
              <a:ea typeface="Arial"/>
              <a:cs typeface="Arial"/>
              <a:sym typeface="Arial"/>
            </a:endParaRPr>
          </a:p>
          <a:p>
            <a:pPr marL="457200" lvl="0" indent="-298450" algn="l" rtl="0">
              <a:lnSpc>
                <a:spcPct val="50000"/>
              </a:lnSpc>
              <a:spcBef>
                <a:spcPts val="0"/>
              </a:spcBef>
              <a:spcAft>
                <a:spcPts val="0"/>
              </a:spcAft>
              <a:buClr>
                <a:schemeClr val="dk1"/>
              </a:buClr>
              <a:buSzPts val="1100"/>
              <a:buChar char="●"/>
            </a:pPr>
            <a:r>
              <a:rPr lang="en-US" sz="1100" b="1">
                <a:latin typeface="Arial"/>
                <a:ea typeface="Arial"/>
                <a:cs typeface="Arial"/>
                <a:sym typeface="Arial"/>
              </a:rPr>
              <a:t>Main build foundation:</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p4 + p5 + p7</a:t>
            </a:r>
            <a:r>
              <a:rPr lang="en-US" sz="1100">
                <a:latin typeface="Arial"/>
                <a:ea typeface="Arial"/>
                <a:cs typeface="Arial"/>
                <a:sym typeface="Arial"/>
              </a:rPr>
              <a:t> (backend security + AI classification + citizen-friendly interface)</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50000"/>
              </a:lnSpc>
              <a:spcBef>
                <a:spcPts val="0"/>
              </a:spcBef>
              <a:spcAft>
                <a:spcPts val="0"/>
              </a:spcAft>
              <a:buClr>
                <a:schemeClr val="dk1"/>
              </a:buClr>
              <a:buSzPts val="1100"/>
              <a:buChar char="●"/>
            </a:pPr>
            <a:r>
              <a:rPr lang="en-US" sz="1100" b="1">
                <a:latin typeface="Arial"/>
                <a:ea typeface="Arial"/>
                <a:cs typeface="Arial"/>
                <a:sym typeface="Arial"/>
              </a:rPr>
              <a:t>Enhancement modules:</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p2 + p3 + p6 + p1</a:t>
            </a:r>
            <a:r>
              <a:rPr lang="en-US" sz="1100">
                <a:latin typeface="Arial"/>
                <a:ea typeface="Arial"/>
                <a:cs typeface="Arial"/>
                <a:sym typeface="Arial"/>
              </a:rPr>
              <a:t> (analytics, architecture, decision support, and early detection)</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50000"/>
              </a:lnSpc>
              <a:spcBef>
                <a:spcPts val="0"/>
              </a:spcBef>
              <a:spcAft>
                <a:spcPts val="0"/>
              </a:spcAft>
              <a:buClr>
                <a:schemeClr val="dk1"/>
              </a:buClr>
              <a:buSzPts val="1100"/>
              <a:buChar char="●"/>
            </a:pPr>
            <a:r>
              <a:rPr lang="en-US" sz="1100" b="1">
                <a:latin typeface="Arial"/>
                <a:ea typeface="Arial"/>
                <a:cs typeface="Arial"/>
                <a:sym typeface="Arial"/>
              </a:rPr>
              <a:t>main.pdf</a:t>
            </a:r>
            <a:r>
              <a:rPr lang="en-US" sz="1100">
                <a:latin typeface="Arial"/>
                <a:ea typeface="Arial"/>
                <a:cs typeface="Arial"/>
                <a:sym typeface="Arial"/>
              </a:rPr>
              <a:t> is essentially your </a:t>
            </a:r>
            <a:r>
              <a:rPr lang="en-US" sz="1100" b="1">
                <a:latin typeface="Arial"/>
                <a:ea typeface="Arial"/>
                <a:cs typeface="Arial"/>
                <a:sym typeface="Arial"/>
              </a:rPr>
              <a:t>integration plan</a:t>
            </a:r>
            <a:r>
              <a:rPr lang="en-US" sz="1100">
                <a:latin typeface="Arial"/>
                <a:ea typeface="Arial"/>
                <a:cs typeface="Arial"/>
                <a:sym typeface="Arial"/>
              </a:rPr>
              <a:t> that ties all these into one platform.</a:t>
            </a:r>
            <a:endParaRPr/>
          </a:p>
        </p:txBody>
      </p:sp>
      <p:sp>
        <p:nvSpPr>
          <p:cNvPr id="157" name="Google Shape;157;p5: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799e9a9d27_1_44: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lnSpc>
                <a:spcPct val="50000"/>
              </a:lnSpc>
              <a:spcBef>
                <a:spcPts val="0"/>
              </a:spcBef>
              <a:spcAft>
                <a:spcPts val="0"/>
              </a:spcAft>
              <a:buNone/>
            </a:pPr>
            <a:r>
              <a:rPr lang="en-US"/>
              <a:t>main, p4, p5, p7</a:t>
            </a:r>
            <a:endParaRPr/>
          </a:p>
          <a:p>
            <a:pPr marL="0" lvl="0" indent="0" algn="l" rtl="0">
              <a:lnSpc>
                <a:spcPct val="50000"/>
              </a:lnSpc>
              <a:spcBef>
                <a:spcPts val="0"/>
              </a:spcBef>
              <a:spcAft>
                <a:spcPts val="0"/>
              </a:spcAft>
              <a:buNone/>
            </a:pPr>
            <a:br>
              <a:rPr lang="en-US"/>
            </a:br>
            <a:r>
              <a:rPr lang="en-US" sz="1100" b="1">
                <a:latin typeface="Arial"/>
                <a:ea typeface="Arial"/>
                <a:cs typeface="Arial"/>
                <a:sym typeface="Arial"/>
              </a:rPr>
              <a:t>In short:</a:t>
            </a:r>
            <a:endParaRPr sz="1100" b="1">
              <a:latin typeface="Arial"/>
              <a:ea typeface="Arial"/>
              <a:cs typeface="Arial"/>
              <a:sym typeface="Arial"/>
            </a:endParaRPr>
          </a:p>
          <a:p>
            <a:pPr marL="457200" lvl="0" indent="-298450" algn="l" rtl="0">
              <a:lnSpc>
                <a:spcPct val="50000"/>
              </a:lnSpc>
              <a:spcBef>
                <a:spcPts val="0"/>
              </a:spcBef>
              <a:spcAft>
                <a:spcPts val="0"/>
              </a:spcAft>
              <a:buClr>
                <a:schemeClr val="dk1"/>
              </a:buClr>
              <a:buSzPts val="1100"/>
              <a:buChar char="●"/>
            </a:pPr>
            <a:r>
              <a:rPr lang="en-US" sz="1100" b="1">
                <a:latin typeface="Arial"/>
                <a:ea typeface="Arial"/>
                <a:cs typeface="Arial"/>
                <a:sym typeface="Arial"/>
              </a:rPr>
              <a:t>Main build foundation:</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p4 + p5 + p7</a:t>
            </a:r>
            <a:r>
              <a:rPr lang="en-US" sz="1100">
                <a:latin typeface="Arial"/>
                <a:ea typeface="Arial"/>
                <a:cs typeface="Arial"/>
                <a:sym typeface="Arial"/>
              </a:rPr>
              <a:t> (backend security + AI classification + citizen-friendly interface)</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50000"/>
              </a:lnSpc>
              <a:spcBef>
                <a:spcPts val="0"/>
              </a:spcBef>
              <a:spcAft>
                <a:spcPts val="0"/>
              </a:spcAft>
              <a:buClr>
                <a:schemeClr val="dk1"/>
              </a:buClr>
              <a:buSzPts val="1100"/>
              <a:buChar char="●"/>
            </a:pPr>
            <a:r>
              <a:rPr lang="en-US" sz="1100" b="1">
                <a:latin typeface="Arial"/>
                <a:ea typeface="Arial"/>
                <a:cs typeface="Arial"/>
                <a:sym typeface="Arial"/>
              </a:rPr>
              <a:t>Enhancement modules:</a:t>
            </a: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p2 + p3 + p6 + p1</a:t>
            </a:r>
            <a:r>
              <a:rPr lang="en-US" sz="1100">
                <a:latin typeface="Arial"/>
                <a:ea typeface="Arial"/>
                <a:cs typeface="Arial"/>
                <a:sym typeface="Arial"/>
              </a:rPr>
              <a:t> (analytics, architecture, decision support, and early detection)</a:t>
            </a:r>
            <a:br>
              <a:rPr lang="en-US" sz="1100">
                <a:latin typeface="Arial"/>
                <a:ea typeface="Arial"/>
                <a:cs typeface="Arial"/>
                <a:sym typeface="Arial"/>
              </a:rPr>
            </a:br>
            <a:endParaRPr sz="1100">
              <a:latin typeface="Arial"/>
              <a:ea typeface="Arial"/>
              <a:cs typeface="Arial"/>
              <a:sym typeface="Arial"/>
            </a:endParaRPr>
          </a:p>
          <a:p>
            <a:pPr marL="457200" lvl="0" indent="-298450" algn="l" rtl="0">
              <a:lnSpc>
                <a:spcPct val="50000"/>
              </a:lnSpc>
              <a:spcBef>
                <a:spcPts val="0"/>
              </a:spcBef>
              <a:spcAft>
                <a:spcPts val="0"/>
              </a:spcAft>
              <a:buClr>
                <a:schemeClr val="dk1"/>
              </a:buClr>
              <a:buSzPts val="1100"/>
              <a:buChar char="●"/>
            </a:pPr>
            <a:r>
              <a:rPr lang="en-US" sz="1100" b="1">
                <a:latin typeface="Arial"/>
                <a:ea typeface="Arial"/>
                <a:cs typeface="Arial"/>
                <a:sym typeface="Arial"/>
              </a:rPr>
              <a:t>main.pdf</a:t>
            </a:r>
            <a:r>
              <a:rPr lang="en-US" sz="1100">
                <a:latin typeface="Arial"/>
                <a:ea typeface="Arial"/>
                <a:cs typeface="Arial"/>
                <a:sym typeface="Arial"/>
              </a:rPr>
              <a:t> is essentially your </a:t>
            </a:r>
            <a:r>
              <a:rPr lang="en-US" sz="1100" b="1">
                <a:latin typeface="Arial"/>
                <a:ea typeface="Arial"/>
                <a:cs typeface="Arial"/>
                <a:sym typeface="Arial"/>
              </a:rPr>
              <a:t>integration plan</a:t>
            </a:r>
            <a:r>
              <a:rPr lang="en-US" sz="1100">
                <a:latin typeface="Arial"/>
                <a:ea typeface="Arial"/>
                <a:cs typeface="Arial"/>
                <a:sym typeface="Arial"/>
              </a:rPr>
              <a:t> that ties all these into one platform.</a:t>
            </a:r>
            <a:endParaRPr/>
          </a:p>
        </p:txBody>
      </p:sp>
      <p:sp>
        <p:nvSpPr>
          <p:cNvPr id="165" name="Google Shape;165;g3799e9a9d27_1_44: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7b0870f69b_0_4: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7b0870f69b_0_4: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7b0870f69b_0_4: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6:notes"/>
          <p:cNvSpPr txBox="1">
            <a:spLocks noGrp="1"/>
          </p:cNvSpPr>
          <p:nvPr>
            <p:ph type="body" idx="1"/>
          </p:nvPr>
        </p:nvSpPr>
        <p:spPr>
          <a:xfrm>
            <a:off x="704850" y="4479925"/>
            <a:ext cx="5643563" cy="36655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6: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7b12f187db_1_0: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7b12f187db_1_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g37b12f187db_1_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793f1bc1a7_2_17: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793f1bc1a7_2_17: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3793f1bc1a7_2_17: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793f1bc1a7_1_22: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793f1bc1a7_1_22: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g3793f1bc1a7_1_22: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793f1bc1a7_1_36: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793f1bc1a7_1_36: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3793f1bc1a7_1_36: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93f1bc1a7_3_233: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793f1bc1a7_3_233: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g3793f1bc1a7_3_233: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793f1bc1a7_1_50: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793f1bc1a7_1_5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g3793f1bc1a7_1_5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793f1bc1a7_3_219: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793f1bc1a7_3_219: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3793f1bc1a7_3_219: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793f1bc1a7_3_226: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793f1bc1a7_3_226: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g3793f1bc1a7_3_226: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799e9a9d27_0_9: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799e9a9d27_0_9: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g3799e9a9d27_0_9: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793f1bc1a7_3_240: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793f1bc1a7_3_24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g3793f1bc1a7_3_24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793f1bc1a7_3_247: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793f1bc1a7_3_247: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g3793f1bc1a7_3_247: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793f1bc1a7_3_212: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793f1bc1a7_3_212: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3793f1bc1a7_3_212: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793f1bc1a7_3_205: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793f1bc1a7_3_205: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g3793f1bc1a7_3_205: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793f1bc1a7_3_254: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793f1bc1a7_3_254: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g3793f1bc1a7_3_254: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793f1bc1a7_3_261: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793f1bc1a7_3_261: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g3793f1bc1a7_3_261: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793f1bc1a7_3_268:notes"/>
          <p:cNvSpPr>
            <a:spLocks noGrp="1" noRot="1" noChangeAspect="1"/>
          </p:cNvSpPr>
          <p:nvPr>
            <p:ph type="sldImg" idx="2"/>
          </p:nvPr>
        </p:nvSpPr>
        <p:spPr>
          <a:xfrm>
            <a:off x="1431925" y="1163638"/>
            <a:ext cx="4189500" cy="314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793f1bc1a7_3_268: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g3793f1bc1a7_3_268: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793f1bc1a7_2_8: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793f1bc1a7_2_8: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g3793f1bc1a7_2_8: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793f1bc1a7_3_48: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793f1bc1a7_3_48: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g3793f1bc1a7_3_48: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8522446fe5_2_72: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8522446fe5_2_72: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g38522446fe5_2_72: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8522446fe5_2_89: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8522446fe5_2_89: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38522446fe5_2_89: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799e9a9d27_1_10:notes"/>
          <p:cNvSpPr>
            <a:spLocks noGrp="1" noRot="1" noChangeAspect="1"/>
          </p:cNvSpPr>
          <p:nvPr>
            <p:ph type="sldImg" idx="2"/>
          </p:nvPr>
        </p:nvSpPr>
        <p:spPr>
          <a:xfrm>
            <a:off x="1431925" y="1163638"/>
            <a:ext cx="4189413" cy="314166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799e9a9d27_1_10:notes"/>
          <p:cNvSpPr txBox="1">
            <a:spLocks noGrp="1"/>
          </p:cNvSpPr>
          <p:nvPr>
            <p:ph type="body" idx="1"/>
          </p:nvPr>
        </p:nvSpPr>
        <p:spPr>
          <a:xfrm>
            <a:off x="704850" y="4479925"/>
            <a:ext cx="5643600" cy="3665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g3799e9a9d27_1_10:notes"/>
          <p:cNvSpPr txBox="1">
            <a:spLocks noGrp="1"/>
          </p:cNvSpPr>
          <p:nvPr>
            <p:ph type="sldNum" idx="12"/>
          </p:nvPr>
        </p:nvSpPr>
        <p:spPr>
          <a:xfrm>
            <a:off x="3995738" y="8842375"/>
            <a:ext cx="3055800" cy="4668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
        <p:cNvGrpSpPr/>
        <p:nvPr/>
      </p:nvGrpSpPr>
      <p:grpSpPr>
        <a:xfrm>
          <a:off x="0" y="0"/>
          <a:ext cx="0" cy="0"/>
          <a:chOff x="0" y="0"/>
          <a:chExt cx="0" cy="0"/>
        </a:xfrm>
      </p:grpSpPr>
      <p:sp>
        <p:nvSpPr>
          <p:cNvPr id="15" name="Google Shape;15;p2"/>
          <p:cNvSpPr txBox="1">
            <a:spLocks noGrp="1"/>
          </p:cNvSpPr>
          <p:nvPr>
            <p:ph type="ftr" idx="11"/>
          </p:nvPr>
        </p:nvSpPr>
        <p:spPr>
          <a:xfrm>
            <a:off x="3124200" y="6400800"/>
            <a:ext cx="3694113"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 name="Google Shape;16;p2"/>
          <p:cNvSpPr txBox="1">
            <a:spLocks noGrp="1"/>
          </p:cNvSpPr>
          <p:nvPr>
            <p:ph type="sldNum" idx="12"/>
          </p:nvPr>
        </p:nvSpPr>
        <p:spPr>
          <a:xfrm>
            <a:off x="7239000" y="6510785"/>
            <a:ext cx="1905000" cy="3143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0" marR="0" lvl="1" indent="0" algn="l" rtl="0">
              <a:spcBef>
                <a:spcPts val="0"/>
              </a:spcBef>
              <a:buNone/>
              <a:defRPr sz="1200" b="0" i="0" u="none" strike="noStrike" cap="none">
                <a:solidFill>
                  <a:schemeClr val="dk1"/>
                </a:solidFill>
                <a:latin typeface="Arial"/>
                <a:ea typeface="Arial"/>
                <a:cs typeface="Arial"/>
                <a:sym typeface="Arial"/>
              </a:defRPr>
            </a:lvl2pPr>
            <a:lvl3pPr marL="0" marR="0" lvl="2" indent="0" algn="l" rtl="0">
              <a:spcBef>
                <a:spcPts val="0"/>
              </a:spcBef>
              <a:buNone/>
              <a:defRPr sz="1200" b="0" i="0" u="none" strike="noStrike" cap="none">
                <a:solidFill>
                  <a:schemeClr val="dk1"/>
                </a:solidFill>
                <a:latin typeface="Arial"/>
                <a:ea typeface="Arial"/>
                <a:cs typeface="Arial"/>
                <a:sym typeface="Arial"/>
              </a:defRPr>
            </a:lvl3pPr>
            <a:lvl4pPr marL="0" marR="0" lvl="3" indent="0" algn="l" rtl="0">
              <a:spcBef>
                <a:spcPts val="0"/>
              </a:spcBef>
              <a:buNone/>
              <a:defRPr sz="1200" b="0" i="0" u="none" strike="noStrike" cap="none">
                <a:solidFill>
                  <a:schemeClr val="dk1"/>
                </a:solidFill>
                <a:latin typeface="Arial"/>
                <a:ea typeface="Arial"/>
                <a:cs typeface="Arial"/>
                <a:sym typeface="Arial"/>
              </a:defRPr>
            </a:lvl4pPr>
            <a:lvl5pPr marL="0" marR="0" lvl="4" indent="0" algn="l" rtl="0">
              <a:spcBef>
                <a:spcPts val="0"/>
              </a:spcBef>
              <a:buNone/>
              <a:defRPr sz="1200" b="0" i="0" u="none" strike="noStrike" cap="none">
                <a:solidFill>
                  <a:schemeClr val="dk1"/>
                </a:solidFill>
                <a:latin typeface="Arial"/>
                <a:ea typeface="Arial"/>
                <a:cs typeface="Arial"/>
                <a:sym typeface="Arial"/>
              </a:defRPr>
            </a:lvl5pPr>
            <a:lvl6pPr marL="0" marR="0" lvl="5" indent="0" algn="l" rtl="0">
              <a:spcBef>
                <a:spcPts val="0"/>
              </a:spcBef>
              <a:buNone/>
              <a:defRPr sz="1200" b="0" i="0" u="none" strike="noStrike" cap="none">
                <a:solidFill>
                  <a:schemeClr val="dk1"/>
                </a:solidFill>
                <a:latin typeface="Arial"/>
                <a:ea typeface="Arial"/>
                <a:cs typeface="Arial"/>
                <a:sym typeface="Arial"/>
              </a:defRPr>
            </a:lvl6pPr>
            <a:lvl7pPr marL="0" marR="0" lvl="6" indent="0" algn="l" rtl="0">
              <a:spcBef>
                <a:spcPts val="0"/>
              </a:spcBef>
              <a:buNone/>
              <a:defRPr sz="1200" b="0" i="0" u="none" strike="noStrike" cap="none">
                <a:solidFill>
                  <a:schemeClr val="dk1"/>
                </a:solidFill>
                <a:latin typeface="Arial"/>
                <a:ea typeface="Arial"/>
                <a:cs typeface="Arial"/>
                <a:sym typeface="Arial"/>
              </a:defRPr>
            </a:lvl7pPr>
            <a:lvl8pPr marL="0" marR="0" lvl="7" indent="0" algn="l" rtl="0">
              <a:spcBef>
                <a:spcPts val="0"/>
              </a:spcBef>
              <a:buNone/>
              <a:defRPr sz="1200" b="0" i="0" u="none" strike="noStrike" cap="none">
                <a:solidFill>
                  <a:schemeClr val="dk1"/>
                </a:solidFill>
                <a:latin typeface="Arial"/>
                <a:ea typeface="Arial"/>
                <a:cs typeface="Arial"/>
                <a:sym typeface="Arial"/>
              </a:defRPr>
            </a:lvl8pPr>
            <a:lvl9pPr marL="0" marR="0" lvl="8" indent="0" algn="l" rtl="0">
              <a:spcBef>
                <a:spcPts val="0"/>
              </a:spcBef>
              <a:buNone/>
              <a:defRPr sz="12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19" name="Google Shape;19;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20" name="Google Shape;20;p3"/>
          <p:cNvSpPr txBox="1">
            <a:spLocks noGrp="1"/>
          </p:cNvSpPr>
          <p:nvPr>
            <p:ph type="ftr" idx="11"/>
          </p:nvPr>
        </p:nvSpPr>
        <p:spPr>
          <a:xfrm>
            <a:off x="3124200" y="6400800"/>
            <a:ext cx="3694113"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 name="Google Shape;21;p3"/>
          <p:cNvSpPr txBox="1">
            <a:spLocks noGrp="1"/>
          </p:cNvSpPr>
          <p:nvPr>
            <p:ph type="sldNum" idx="12"/>
          </p:nvPr>
        </p:nvSpPr>
        <p:spPr>
          <a:xfrm>
            <a:off x="7239000" y="6415088"/>
            <a:ext cx="1905000" cy="3143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24" name="Google Shape;24;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ctr"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ctr"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ctr"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25" name="Google Shape;25;p4"/>
          <p:cNvSpPr txBox="1">
            <a:spLocks noGrp="1"/>
          </p:cNvSpPr>
          <p:nvPr>
            <p:ph type="ftr" idx="11"/>
          </p:nvPr>
        </p:nvSpPr>
        <p:spPr>
          <a:xfrm>
            <a:off x="3124200" y="6400800"/>
            <a:ext cx="3694113"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40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44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44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44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44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44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44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44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4400" b="0" i="0" u="none" strike="noStrike" cap="none">
                <a:solidFill>
                  <a:schemeClr val="dk2"/>
                </a:solidFill>
                <a:latin typeface="Arial"/>
                <a:ea typeface="Arial"/>
                <a:cs typeface="Arial"/>
                <a:sym typeface="Arial"/>
              </a:defRPr>
            </a:lvl9pPr>
          </a:lstStyle>
          <a:p>
            <a:endParaRPr/>
          </a:p>
        </p:txBody>
      </p:sp>
      <p:sp>
        <p:nvSpPr>
          <p:cNvPr id="28" name="Google Shape;28;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L="1371600" marR="0" lvl="2" indent="-228600" algn="l" rtl="0">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3pPr>
            <a:lvl4pPr marL="1828800" marR="0" lvl="3"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2286000" marR="0" lvl="4"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3200400" marR="0" lvl="6"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3657600" marR="0" lvl="7"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4114800" marR="0" lvl="8" indent="-228600" algn="l" rtl="0">
              <a:spcBef>
                <a:spcPts val="28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endParaRPr/>
          </a:p>
        </p:txBody>
      </p:sp>
      <p:sp>
        <p:nvSpPr>
          <p:cNvPr id="29" name="Google Shape;29;p5"/>
          <p:cNvSpPr txBox="1">
            <a:spLocks noGrp="1"/>
          </p:cNvSpPr>
          <p:nvPr>
            <p:ph type="ftr" idx="11"/>
          </p:nvPr>
        </p:nvSpPr>
        <p:spPr>
          <a:xfrm>
            <a:off x="3124200" y="6400800"/>
            <a:ext cx="3694113"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5"/>
          <p:cNvSpPr txBox="1">
            <a:spLocks noGrp="1"/>
          </p:cNvSpPr>
          <p:nvPr>
            <p:ph type="sldNum" idx="12"/>
          </p:nvPr>
        </p:nvSpPr>
        <p:spPr>
          <a:xfrm>
            <a:off x="7239000" y="6415088"/>
            <a:ext cx="1905000" cy="3143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descr="PPT values"/>
          <p:cNvPicPr preferRelativeResize="0"/>
          <p:nvPr/>
        </p:nvPicPr>
        <p:blipFill rotWithShape="1">
          <a:blip r:embed="rId6">
            <a:alphaModFix/>
          </a:blip>
          <a:srcRect/>
          <a:stretch/>
        </p:blipFill>
        <p:spPr>
          <a:xfrm>
            <a:off x="2819400" y="6600825"/>
            <a:ext cx="5943600" cy="144463"/>
          </a:xfrm>
          <a:prstGeom prst="rect">
            <a:avLst/>
          </a:prstGeom>
          <a:noFill/>
          <a:ln>
            <a:noFill/>
          </a:ln>
        </p:spPr>
      </p:pic>
      <p:pic>
        <p:nvPicPr>
          <p:cNvPr id="11" name="Google Shape;11;p1" descr="PPT inside"/>
          <p:cNvPicPr preferRelativeResize="0"/>
          <p:nvPr/>
        </p:nvPicPr>
        <p:blipFill rotWithShape="1">
          <a:blip r:embed="rId7">
            <a:alphaModFix/>
          </a:blip>
          <a:srcRect t="19157" b="25415"/>
          <a:stretch/>
        </p:blipFill>
        <p:spPr>
          <a:xfrm>
            <a:off x="0" y="0"/>
            <a:ext cx="9145588" cy="688975"/>
          </a:xfrm>
          <a:prstGeom prst="rect">
            <a:avLst/>
          </a:prstGeom>
          <a:noFill/>
          <a:ln>
            <a:noFill/>
          </a:ln>
        </p:spPr>
      </p:pic>
      <p:pic>
        <p:nvPicPr>
          <p:cNvPr id="12" name="Google Shape;12;p1"/>
          <p:cNvPicPr preferRelativeResize="0"/>
          <p:nvPr/>
        </p:nvPicPr>
        <p:blipFill rotWithShape="1">
          <a:blip r:embed="rId8">
            <a:alphaModFix/>
          </a:blip>
          <a:srcRect/>
          <a:stretch/>
        </p:blipFill>
        <p:spPr>
          <a:xfrm>
            <a:off x="7733610" y="122454"/>
            <a:ext cx="1242805" cy="432955"/>
          </a:xfrm>
          <a:prstGeom prst="rect">
            <a:avLst/>
          </a:prstGeom>
          <a:noFill/>
          <a:ln>
            <a:noFill/>
          </a:ln>
        </p:spPr>
      </p:pic>
      <p:sp>
        <p:nvSpPr>
          <p:cNvPr id="13" name="Google Shape;13;p1"/>
          <p:cNvSpPr txBox="1"/>
          <p:nvPr/>
        </p:nvSpPr>
        <p:spPr>
          <a:xfrm rot="-5400000">
            <a:off x="-2905887" y="3594346"/>
            <a:ext cx="6180074" cy="369332"/>
          </a:xfrm>
          <a:prstGeom prst="rect">
            <a:avLst/>
          </a:prstGeom>
          <a:solidFill>
            <a:srgbClr val="00428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GMR Institute of Technology</a:t>
            </a:r>
            <a:r>
              <a:rPr lang="en-US" sz="1800" b="0" i="0" u="none" strike="noStrike" cap="none">
                <a:solidFill>
                  <a:schemeClr val="lt1"/>
                </a:solidFill>
                <a:latin typeface="Verdana"/>
                <a:ea typeface="Verdana"/>
                <a:cs typeface="Verdana"/>
                <a:sym typeface="Verdana"/>
              </a:rPr>
              <a:t> </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3390/smartcities7040090"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3390/smartcities7050109"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3390/smartcities7040090"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3390/bdcc5030044"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3390/app10020666"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doi.org/10.3390/smartcities7050109"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6"/>
          <p:cNvSpPr txBox="1">
            <a:spLocks noGrp="1"/>
          </p:cNvSpPr>
          <p:nvPr>
            <p:ph type="dt" idx="10"/>
          </p:nvPr>
        </p:nvSpPr>
        <p:spPr>
          <a:xfrm>
            <a:off x="0" y="952500"/>
            <a:ext cx="381000" cy="1092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30-Oct-24</a:t>
            </a:r>
            <a:endParaRPr sz="1800" b="0" i="0" u="none" strike="noStrike" cap="none">
              <a:solidFill>
                <a:schemeClr val="dk1"/>
              </a:solidFill>
              <a:latin typeface="Arial"/>
              <a:ea typeface="Arial"/>
              <a:cs typeface="Arial"/>
              <a:sym typeface="Arial"/>
            </a:endParaRPr>
          </a:p>
        </p:txBody>
      </p:sp>
      <p:sp>
        <p:nvSpPr>
          <p:cNvPr id="38" name="Google Shape;38;p6"/>
          <p:cNvSpPr txBox="1">
            <a:spLocks noGrp="1"/>
          </p:cNvSpPr>
          <p:nvPr>
            <p:ph type="sldNum" idx="12"/>
          </p:nvPr>
        </p:nvSpPr>
        <p:spPr>
          <a:xfrm>
            <a:off x="7239000" y="6510785"/>
            <a:ext cx="1905000" cy="3143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a:t>
            </a:fld>
            <a:endParaRPr/>
          </a:p>
        </p:txBody>
      </p:sp>
      <p:sp>
        <p:nvSpPr>
          <p:cNvPr id="39" name="Google Shape;39;p6"/>
          <p:cNvSpPr txBox="1"/>
          <p:nvPr/>
        </p:nvSpPr>
        <p:spPr>
          <a:xfrm>
            <a:off x="485775" y="6515100"/>
            <a:ext cx="190500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0" i="0" u="none" strike="noStrike" cap="none">
                <a:solidFill>
                  <a:schemeClr val="dk1"/>
                </a:solidFill>
                <a:latin typeface="Arial"/>
                <a:ea typeface="Arial"/>
                <a:cs typeface="Arial"/>
                <a:sym typeface="Arial"/>
              </a:rPr>
              <a:t>30-Oct-24</a:t>
            </a:r>
            <a:endParaRPr sz="1400" b="0" i="0" u="none" strike="noStrike" cap="none">
              <a:solidFill>
                <a:schemeClr val="dk1"/>
              </a:solidFill>
              <a:latin typeface="Arial"/>
              <a:ea typeface="Arial"/>
              <a:cs typeface="Arial"/>
              <a:sym typeface="Arial"/>
            </a:endParaRPr>
          </a:p>
        </p:txBody>
      </p:sp>
      <p:sp>
        <p:nvSpPr>
          <p:cNvPr id="40" name="Google Shape;40;p6"/>
          <p:cNvSpPr txBox="1"/>
          <p:nvPr/>
        </p:nvSpPr>
        <p:spPr>
          <a:xfrm>
            <a:off x="7239000" y="6415088"/>
            <a:ext cx="1905000" cy="31432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Arial"/>
                <a:ea typeface="Arial"/>
                <a:cs typeface="Arial"/>
                <a:sym typeface="Arial"/>
              </a:rPr>
              <a:t>1</a:t>
            </a:fld>
            <a:endParaRPr sz="1400" b="0" i="0" u="none" strike="noStrike" cap="none">
              <a:solidFill>
                <a:schemeClr val="dk1"/>
              </a:solidFill>
              <a:latin typeface="Arial"/>
              <a:ea typeface="Arial"/>
              <a:cs typeface="Arial"/>
              <a:sym typeface="Arial"/>
            </a:endParaRPr>
          </a:p>
        </p:txBody>
      </p:sp>
      <p:sp>
        <p:nvSpPr>
          <p:cNvPr id="41" name="Google Shape;41;p6"/>
          <p:cNvSpPr txBox="1"/>
          <p:nvPr/>
        </p:nvSpPr>
        <p:spPr>
          <a:xfrm>
            <a:off x="7924800" y="6172200"/>
            <a:ext cx="1219200" cy="47625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200" b="0" i="1" u="none" strike="noStrike" cap="none">
                <a:solidFill>
                  <a:schemeClr val="dk1"/>
                </a:solidFill>
                <a:latin typeface="Arial"/>
                <a:ea typeface="Arial"/>
                <a:cs typeface="Arial"/>
                <a:sym typeface="Arial"/>
              </a:rPr>
              <a:t>1</a:t>
            </a:fld>
            <a:endParaRPr sz="1200" b="0" i="1" u="none" strike="noStrike" cap="none">
              <a:solidFill>
                <a:schemeClr val="dk1"/>
              </a:solidFill>
              <a:latin typeface="Arial"/>
              <a:ea typeface="Arial"/>
              <a:cs typeface="Arial"/>
              <a:sym typeface="Arial"/>
            </a:endParaRPr>
          </a:p>
        </p:txBody>
      </p:sp>
      <p:sp>
        <p:nvSpPr>
          <p:cNvPr id="42" name="Google Shape;42;p6"/>
          <p:cNvSpPr txBox="1"/>
          <p:nvPr/>
        </p:nvSpPr>
        <p:spPr>
          <a:xfrm>
            <a:off x="200025" y="6096000"/>
            <a:ext cx="1371600" cy="4762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b="0" i="1" u="none" strike="noStrike" cap="none">
                <a:solidFill>
                  <a:schemeClr val="dk1"/>
                </a:solidFill>
                <a:latin typeface="Arial"/>
                <a:ea typeface="Arial"/>
                <a:cs typeface="Arial"/>
                <a:sym typeface="Arial"/>
              </a:rPr>
              <a:t>30-Oct-24</a:t>
            </a:r>
            <a:endParaRPr sz="1200" b="0" i="1" u="none" strike="noStrike" cap="none">
              <a:solidFill>
                <a:schemeClr val="dk1"/>
              </a:solidFill>
              <a:latin typeface="Arial"/>
              <a:ea typeface="Arial"/>
              <a:cs typeface="Arial"/>
              <a:sym typeface="Arial"/>
            </a:endParaRPr>
          </a:p>
        </p:txBody>
      </p:sp>
      <p:pic>
        <p:nvPicPr>
          <p:cNvPr id="43" name="Google Shape;43;p6" descr="PPTmainpage"/>
          <p:cNvPicPr preferRelativeResize="0"/>
          <p:nvPr/>
        </p:nvPicPr>
        <p:blipFill rotWithShape="1">
          <a:blip r:embed="rId3">
            <a:alphaModFix/>
          </a:blip>
          <a:srcRect/>
          <a:stretch/>
        </p:blipFill>
        <p:spPr>
          <a:xfrm>
            <a:off x="-800" y="-788"/>
            <a:ext cx="9145587" cy="6859586"/>
          </a:xfrm>
          <a:prstGeom prst="rect">
            <a:avLst/>
          </a:prstGeom>
          <a:noFill/>
          <a:ln>
            <a:noFill/>
          </a:ln>
        </p:spPr>
      </p:pic>
      <p:sp>
        <p:nvSpPr>
          <p:cNvPr id="44" name="Google Shape;44;p6"/>
          <p:cNvSpPr txBox="1"/>
          <p:nvPr/>
        </p:nvSpPr>
        <p:spPr>
          <a:xfrm>
            <a:off x="-332400" y="-800"/>
            <a:ext cx="9808800" cy="1597800"/>
          </a:xfrm>
          <a:prstGeom prst="rect">
            <a:avLst/>
          </a:prstGeom>
          <a:noFill/>
          <a:ln>
            <a:noFill/>
          </a:ln>
        </p:spPr>
        <p:txBody>
          <a:bodyPr spcFirstLastPara="1" wrap="square" lIns="91425" tIns="45700" rIns="91425" bIns="45700" anchor="t" anchorCtr="0">
            <a:spAutoFit/>
          </a:bodyPr>
          <a:lstStyle/>
          <a:p>
            <a:pPr marL="0" lvl="0" indent="0" algn="ctr" rtl="0">
              <a:lnSpc>
                <a:spcPct val="115000"/>
              </a:lnSpc>
              <a:spcBef>
                <a:spcPts val="0"/>
              </a:spcBef>
              <a:spcAft>
                <a:spcPts val="0"/>
              </a:spcAft>
              <a:buClr>
                <a:schemeClr val="dk1"/>
              </a:buClr>
              <a:buFont typeface="Arial"/>
              <a:buNone/>
            </a:pPr>
            <a:r>
              <a:rPr lang="en-US" sz="2800" b="1">
                <a:solidFill>
                  <a:schemeClr val="lt1"/>
                </a:solidFill>
              </a:rPr>
              <a:t>GMR Institute of Technology, Rajam</a:t>
            </a:r>
            <a:endParaRPr sz="2800" b="1">
              <a:solidFill>
                <a:schemeClr val="lt1"/>
              </a:solidFill>
            </a:endParaRPr>
          </a:p>
          <a:p>
            <a:pPr marL="0" lvl="0" indent="0" algn="ctr" rtl="0">
              <a:lnSpc>
                <a:spcPct val="115000"/>
              </a:lnSpc>
              <a:spcBef>
                <a:spcPts val="1200"/>
              </a:spcBef>
              <a:spcAft>
                <a:spcPts val="0"/>
              </a:spcAft>
              <a:buClr>
                <a:schemeClr val="dk1"/>
              </a:buClr>
              <a:buFont typeface="Arial"/>
              <a:buNone/>
            </a:pPr>
            <a:r>
              <a:rPr lang="en-US" sz="2400" b="1">
                <a:solidFill>
                  <a:schemeClr val="lt1"/>
                </a:solidFill>
              </a:rPr>
              <a:t>Department of CSE - Artificial Intelligence &amp; Machine Learning</a:t>
            </a:r>
            <a:endParaRPr sz="2800" b="1">
              <a:solidFill>
                <a:schemeClr val="lt1"/>
              </a:solidFill>
            </a:endParaRPr>
          </a:p>
          <a:p>
            <a:pPr marL="0" marR="0" lvl="0" indent="0" algn="ctr" rtl="0">
              <a:lnSpc>
                <a:spcPct val="115000"/>
              </a:lnSpc>
              <a:spcBef>
                <a:spcPts val="0"/>
              </a:spcBef>
              <a:spcAft>
                <a:spcPts val="0"/>
              </a:spcAft>
              <a:buNone/>
            </a:pPr>
            <a:endParaRPr sz="2800">
              <a:solidFill>
                <a:schemeClr val="lt1"/>
              </a:solidFill>
            </a:endParaRPr>
          </a:p>
        </p:txBody>
      </p:sp>
      <p:pic>
        <p:nvPicPr>
          <p:cNvPr id="45" name="Google Shape;45;p6"/>
          <p:cNvPicPr preferRelativeResize="0"/>
          <p:nvPr/>
        </p:nvPicPr>
        <p:blipFill rotWithShape="1">
          <a:blip r:embed="rId4">
            <a:alphaModFix/>
          </a:blip>
          <a:srcRect/>
          <a:stretch/>
        </p:blipFill>
        <p:spPr>
          <a:xfrm>
            <a:off x="250825" y="6019800"/>
            <a:ext cx="1654175" cy="576263"/>
          </a:xfrm>
          <a:prstGeom prst="rect">
            <a:avLst/>
          </a:prstGeom>
          <a:noFill/>
          <a:ln>
            <a:noFill/>
          </a:ln>
        </p:spPr>
      </p:pic>
      <p:sp>
        <p:nvSpPr>
          <p:cNvPr id="46" name="Google Shape;46;p6"/>
          <p:cNvSpPr txBox="1"/>
          <p:nvPr/>
        </p:nvSpPr>
        <p:spPr>
          <a:xfrm>
            <a:off x="3801625" y="2826400"/>
            <a:ext cx="5342100" cy="1616100"/>
          </a:xfrm>
          <a:prstGeom prst="rect">
            <a:avLst/>
          </a:prstGeom>
          <a:noFill/>
          <a:ln>
            <a:noFill/>
          </a:ln>
        </p:spPr>
        <p:txBody>
          <a:bodyPr spcFirstLastPara="1" wrap="square" lIns="91425" tIns="45700" rIns="91425" bIns="45700" anchor="t" anchorCtr="0">
            <a:spAutoFit/>
          </a:bodyPr>
          <a:lstStyle/>
          <a:p>
            <a:pPr marL="0" marR="0" lvl="0" indent="0" algn="ctr" rtl="0">
              <a:lnSpc>
                <a:spcPct val="115000"/>
              </a:lnSpc>
              <a:spcBef>
                <a:spcPts val="0"/>
              </a:spcBef>
              <a:spcAft>
                <a:spcPts val="0"/>
              </a:spcAft>
              <a:buNone/>
            </a:pPr>
            <a:r>
              <a:rPr lang="en-US" sz="3000" b="0" i="0" u="none" strike="noStrike" cap="none">
                <a:solidFill>
                  <a:schemeClr val="lt1"/>
                </a:solidFill>
                <a:latin typeface="Arial"/>
                <a:ea typeface="Arial"/>
                <a:cs typeface="Arial"/>
                <a:sym typeface="Arial"/>
              </a:rPr>
              <a:t>City</a:t>
            </a:r>
            <a:r>
              <a:rPr lang="en-US" sz="3000">
                <a:solidFill>
                  <a:schemeClr val="lt1"/>
                </a:solidFill>
              </a:rPr>
              <a:t>Solution: A Decentralized Smart City Incident Management platform</a:t>
            </a:r>
            <a:endParaRPr sz="30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7"/>
          <p:cNvSpPr txBox="1">
            <a:spLocks noGrp="1"/>
          </p:cNvSpPr>
          <p:nvPr>
            <p:ph type="body" idx="1"/>
          </p:nvPr>
        </p:nvSpPr>
        <p:spPr>
          <a:xfrm>
            <a:off x="584900" y="580650"/>
            <a:ext cx="8487000" cy="6020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Arial"/>
              <a:buNone/>
            </a:pPr>
            <a:r>
              <a:rPr lang="en-US" b="1" dirty="0">
                <a:latin typeface="Times New Roman"/>
                <a:ea typeface="Times New Roman"/>
                <a:cs typeface="Times New Roman"/>
                <a:sym typeface="Times New Roman"/>
              </a:rPr>
              <a:t>Title of the Project:</a:t>
            </a:r>
            <a:r>
              <a:rPr lang="en-US" dirty="0">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a:p>
            <a:pPr marL="0" lvl="0" indent="0" algn="ctr" rtl="0">
              <a:spcBef>
                <a:spcPts val="0"/>
              </a:spcBef>
              <a:spcAft>
                <a:spcPts val="0"/>
              </a:spcAft>
              <a:buClr>
                <a:schemeClr val="dk1"/>
              </a:buClr>
              <a:buSzPts val="3200"/>
              <a:buFont typeface="Arial"/>
              <a:buNone/>
            </a:pPr>
            <a:r>
              <a:rPr lang="en-US" sz="2800" dirty="0" err="1">
                <a:latin typeface="Times New Roman"/>
                <a:ea typeface="Times New Roman"/>
                <a:cs typeface="Times New Roman"/>
                <a:sym typeface="Times New Roman"/>
              </a:rPr>
              <a:t>CitySolution</a:t>
            </a:r>
            <a:r>
              <a:rPr lang="en-US" sz="2800" dirty="0">
                <a:latin typeface="Times New Roman"/>
                <a:ea typeface="Times New Roman"/>
                <a:cs typeface="Times New Roman"/>
                <a:sym typeface="Times New Roman"/>
              </a:rPr>
              <a:t>: A Decentralized Smart City Incident </a:t>
            </a:r>
            <a:endParaRPr sz="2800" dirty="0">
              <a:latin typeface="Times New Roman"/>
              <a:ea typeface="Times New Roman"/>
              <a:cs typeface="Times New Roman"/>
              <a:sym typeface="Times New Roman"/>
            </a:endParaRPr>
          </a:p>
          <a:p>
            <a:pPr marL="0" lvl="0" indent="0" algn="ctr" rtl="0">
              <a:spcBef>
                <a:spcPts val="0"/>
              </a:spcBef>
              <a:spcAft>
                <a:spcPts val="0"/>
              </a:spcAft>
              <a:buClr>
                <a:schemeClr val="dk1"/>
              </a:buClr>
              <a:buSzPts val="3200"/>
              <a:buFont typeface="Arial"/>
              <a:buNone/>
            </a:pPr>
            <a:r>
              <a:rPr lang="en-US" sz="2800" dirty="0">
                <a:latin typeface="Times New Roman"/>
                <a:ea typeface="Times New Roman"/>
                <a:cs typeface="Times New Roman"/>
                <a:sym typeface="Times New Roman"/>
              </a:rPr>
              <a:t>Management Platform </a:t>
            </a:r>
            <a:endParaRPr sz="2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Font typeface="Arial"/>
              <a:buNone/>
            </a:pPr>
            <a:r>
              <a:rPr lang="en-US" b="1" dirty="0">
                <a:latin typeface="Times New Roman"/>
                <a:ea typeface="Times New Roman"/>
                <a:cs typeface="Times New Roman"/>
                <a:sym typeface="Times New Roman"/>
              </a:rPr>
              <a:t>Presented By:</a:t>
            </a:r>
            <a:endParaRPr b="1" dirty="0">
              <a:latin typeface="Times New Roman"/>
              <a:ea typeface="Times New Roman"/>
              <a:cs typeface="Times New Roman"/>
              <a:sym typeface="Times New Roman"/>
            </a:endParaRPr>
          </a:p>
          <a:p>
            <a:pPr marL="0" marR="285750" lvl="0" indent="0" algn="ctr"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M. Praveen	      22341A4232   </a:t>
            </a:r>
            <a:endParaRPr sz="2400" dirty="0">
              <a:latin typeface="Times New Roman"/>
              <a:ea typeface="Times New Roman"/>
              <a:cs typeface="Times New Roman"/>
              <a:sym typeface="Times New Roman"/>
            </a:endParaRPr>
          </a:p>
          <a:p>
            <a:pPr marL="0" marR="285750" lvl="0" indent="0" algn="ctr"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D. Rohith	      22341A4207 </a:t>
            </a:r>
            <a:endParaRPr sz="2400" dirty="0">
              <a:latin typeface="Times New Roman"/>
              <a:ea typeface="Times New Roman"/>
              <a:cs typeface="Times New Roman"/>
              <a:sym typeface="Times New Roman"/>
            </a:endParaRPr>
          </a:p>
          <a:p>
            <a:pPr marL="0" marR="285750" lvl="0" indent="0" algn="ctr"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T. Swetha	      22341A4258 </a:t>
            </a:r>
            <a:endParaRPr sz="2400" dirty="0">
              <a:latin typeface="Times New Roman"/>
              <a:ea typeface="Times New Roman"/>
              <a:cs typeface="Times New Roman"/>
              <a:sym typeface="Times New Roman"/>
            </a:endParaRPr>
          </a:p>
          <a:p>
            <a:pPr marL="0" marR="285750" lvl="0" indent="0" algn="ctr"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K. Naveen	      22341A4216 </a:t>
            </a:r>
            <a:endParaRPr sz="2400" dirty="0">
              <a:latin typeface="Times New Roman"/>
              <a:ea typeface="Times New Roman"/>
              <a:cs typeface="Times New Roman"/>
              <a:sym typeface="Times New Roman"/>
            </a:endParaRPr>
          </a:p>
          <a:p>
            <a:pPr marL="1371600" marR="285750" lvl="0" indent="457200" algn="l"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   V. Eswar Prasad    22341A4262 </a:t>
            </a:r>
            <a:endParaRPr sz="24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Font typeface="Arial"/>
              <a:buNone/>
            </a:pPr>
            <a:r>
              <a:rPr lang="en-US" b="1" dirty="0">
                <a:latin typeface="Times New Roman"/>
                <a:ea typeface="Times New Roman"/>
                <a:cs typeface="Times New Roman"/>
                <a:sym typeface="Times New Roman"/>
              </a:rPr>
              <a:t>Supervisor:</a:t>
            </a:r>
            <a:endParaRPr b="1" dirty="0">
              <a:latin typeface="Times New Roman"/>
              <a:ea typeface="Times New Roman"/>
              <a:cs typeface="Times New Roman"/>
              <a:sym typeface="Times New Roman"/>
            </a:endParaRPr>
          </a:p>
          <a:p>
            <a:pPr marL="0" lvl="0" indent="0" algn="ctr"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Dr. P. Satish Kumar</a:t>
            </a:r>
            <a:endParaRPr sz="1400" dirty="0">
              <a:latin typeface="Times New Roman"/>
              <a:ea typeface="Times New Roman"/>
              <a:cs typeface="Times New Roman"/>
              <a:sym typeface="Times New Roman"/>
            </a:endParaRPr>
          </a:p>
          <a:p>
            <a:pPr marL="0" lvl="0" indent="0" algn="ctr"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Associate Professor </a:t>
            </a:r>
            <a:endParaRPr sz="2400" dirty="0">
              <a:latin typeface="Times New Roman"/>
              <a:ea typeface="Times New Roman"/>
              <a:cs typeface="Times New Roman"/>
              <a:sym typeface="Times New Roman"/>
            </a:endParaRPr>
          </a:p>
          <a:p>
            <a:pPr marL="0" lvl="0" indent="0" algn="ctr"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CSE (Artificial Intelligence &amp; Machine Learning)</a:t>
            </a:r>
            <a:endParaRPr sz="2400" dirty="0">
              <a:latin typeface="Times New Roman"/>
              <a:ea typeface="Times New Roman"/>
              <a:cs typeface="Times New Roman"/>
              <a:sym typeface="Times New Roman"/>
            </a:endParaRPr>
          </a:p>
          <a:p>
            <a:pPr marL="0" lvl="0" indent="0" algn="ctr" rtl="0">
              <a:spcBef>
                <a:spcPts val="0"/>
              </a:spcBef>
              <a:spcAft>
                <a:spcPts val="0"/>
              </a:spcAft>
              <a:buClr>
                <a:schemeClr val="dk1"/>
              </a:buClr>
              <a:buFont typeface="Arial"/>
              <a:buNone/>
            </a:pPr>
            <a:r>
              <a:rPr lang="en-US" sz="2400" dirty="0">
                <a:latin typeface="Times New Roman"/>
                <a:ea typeface="Times New Roman"/>
                <a:cs typeface="Times New Roman"/>
                <a:sym typeface="Times New Roman"/>
              </a:rPr>
              <a:t>GMRIT</a:t>
            </a:r>
            <a:endParaRPr sz="2400" dirty="0">
              <a:latin typeface="Times New Roman"/>
              <a:ea typeface="Times New Roman"/>
              <a:cs typeface="Times New Roman"/>
              <a:sym typeface="Times New Roman"/>
            </a:endParaRPr>
          </a:p>
          <a:p>
            <a:pPr marL="0" lvl="0" indent="0" algn="ctr" rtl="0">
              <a:spcBef>
                <a:spcPts val="0"/>
              </a:spcBef>
              <a:spcAft>
                <a:spcPts val="0"/>
              </a:spcAft>
              <a:buClr>
                <a:schemeClr val="dk1"/>
              </a:buClr>
              <a:buFont typeface="Arial"/>
              <a:buNone/>
            </a:pPr>
            <a:endParaRPr sz="2400" dirty="0">
              <a:latin typeface="Times New Roman"/>
              <a:ea typeface="Times New Roman"/>
              <a:cs typeface="Times New Roman"/>
              <a:sym typeface="Times New Roman"/>
            </a:endParaRPr>
          </a:p>
          <a:p>
            <a:pPr marL="0" lvl="0" indent="0" algn="ctr" rtl="0">
              <a:spcBef>
                <a:spcPts val="0"/>
              </a:spcBef>
              <a:spcAft>
                <a:spcPts val="0"/>
              </a:spcAft>
              <a:buClr>
                <a:schemeClr val="dk1"/>
              </a:buClr>
              <a:buFont typeface="Arial"/>
              <a:buNone/>
            </a:pPr>
            <a:endParaRPr sz="24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Font typeface="Arial"/>
              <a:buNone/>
            </a:pPr>
            <a:endParaRPr dirty="0"/>
          </a:p>
        </p:txBody>
      </p:sp>
      <p:sp>
        <p:nvSpPr>
          <p:cNvPr id="52" name="Google Shape;52;p7"/>
          <p:cNvSpPr txBox="1">
            <a:spLocks noGrp="1"/>
          </p:cNvSpPr>
          <p:nvPr>
            <p:ph type="sldNum" idx="12"/>
          </p:nvPr>
        </p:nvSpPr>
        <p:spPr>
          <a:xfrm>
            <a:off x="7239000" y="6415088"/>
            <a:ext cx="1905000" cy="3143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8"/>
          <p:cNvSpPr txBox="1">
            <a:spLocks noGrp="1"/>
          </p:cNvSpPr>
          <p:nvPr>
            <p:ph type="body" idx="1"/>
          </p:nvPr>
        </p:nvSpPr>
        <p:spPr>
          <a:xfrm>
            <a:off x="335025" y="642300"/>
            <a:ext cx="8937900" cy="5863200"/>
          </a:xfrm>
          <a:prstGeom prst="rect">
            <a:avLst/>
          </a:prstGeom>
        </p:spPr>
        <p:txBody>
          <a:bodyPr spcFirstLastPara="1" wrap="square" lIns="91425" tIns="45700" rIns="91425" bIns="45700" anchor="t" anchorCtr="0">
            <a:noAutofit/>
          </a:bodyPr>
          <a:lstStyle/>
          <a:p>
            <a:pPr marL="63500" marR="114300" lvl="0" indent="0" algn="just" rtl="0">
              <a:lnSpc>
                <a:spcPct val="150000"/>
              </a:lnSpc>
              <a:spcBef>
                <a:spcPts val="0"/>
              </a:spcBef>
              <a:spcAft>
                <a:spcPts val="0"/>
              </a:spcAft>
              <a:buClr>
                <a:schemeClr val="dk1"/>
              </a:buClr>
              <a:buSzPts val="1100"/>
              <a:buFont typeface="Arial"/>
              <a:buNone/>
            </a:pPr>
            <a:r>
              <a:rPr lang="en-US" sz="1600">
                <a:latin typeface="Times New Roman"/>
                <a:ea typeface="Times New Roman"/>
                <a:cs typeface="Times New Roman"/>
                <a:sym typeface="Times New Roman"/>
              </a:rPr>
              <a:t>The increasing urban population and growing number of civic issues demand a transparent, efficient, and citizen-driven reporting system. Traditional centralized approaches often suffer from delays, limited scalability, and lack of accountability. Users can report incidents by submitting details such as location, category, description, and images, which are securely processed and managed. This system proposes a support for image uploads, geolocation capture, community voting, and issue status tracking, ensuring active citizen participation</a:t>
            </a:r>
            <a:r>
              <a:rPr lang="en-US" sz="1100"/>
              <a:t>. </a:t>
            </a:r>
            <a:r>
              <a:rPr lang="en-US" sz="1600">
                <a:latin typeface="Times New Roman"/>
                <a:ea typeface="Times New Roman"/>
                <a:cs typeface="Times New Roman"/>
                <a:sym typeface="Times New Roman"/>
              </a:rPr>
              <a:t>To enhance transparency and trust, the platform integrates blockchain for immutable incident registration and IPFS (InterPlanetary File System) for decentralized image storage. The system’s analytics dashboard provides real-time insights through visualizations like category-wise distributions, voting statistics, and trend analyses, supporting data-driven decision-making by civic authorities. Currently, the implementation uses an in-memory database for demonstration, with a scalable structure ready for integration with persistent databases. Through its modular and extensible design, CitySolution demonstrates how smart digital governance can empower citizens, improve urban accountability, and foster collaborative problem-solving in modern cities. Model-Driven Engineering and Domain-Specific Languages simplify citizen participation, and Decision Support Systems integrate all components for real-time planning and emergency response. </a:t>
            </a:r>
            <a:endParaRPr sz="1600">
              <a:latin typeface="Times New Roman"/>
              <a:ea typeface="Times New Roman"/>
              <a:cs typeface="Times New Roman"/>
              <a:sym typeface="Times New Roman"/>
            </a:endParaRPr>
          </a:p>
          <a:p>
            <a:pPr marL="63500" marR="114300" lvl="0" indent="0" algn="just" rtl="0">
              <a:lnSpc>
                <a:spcPct val="150000"/>
              </a:lnSpc>
              <a:spcBef>
                <a:spcPts val="0"/>
              </a:spcBef>
              <a:spcAft>
                <a:spcPts val="0"/>
              </a:spcAft>
              <a:buClr>
                <a:schemeClr val="dk1"/>
              </a:buClr>
              <a:buSzPts val="1100"/>
              <a:buFont typeface="Arial"/>
              <a:buNone/>
            </a:pPr>
            <a:r>
              <a:rPr lang="en-US" sz="1600" b="1">
                <a:latin typeface="Times New Roman"/>
                <a:ea typeface="Times New Roman"/>
                <a:cs typeface="Times New Roman"/>
                <a:sym typeface="Times New Roman"/>
              </a:rPr>
              <a:t>Keywords:</a:t>
            </a:r>
            <a:r>
              <a:rPr lang="en-US" sz="1600" b="1" i="1">
                <a:latin typeface="Times New Roman"/>
                <a:ea typeface="Times New Roman"/>
                <a:cs typeface="Times New Roman"/>
                <a:sym typeface="Times New Roman"/>
              </a:rPr>
              <a:t> </a:t>
            </a:r>
            <a:r>
              <a:rPr lang="en-US" sz="1600" i="1">
                <a:latin typeface="Times New Roman"/>
                <a:ea typeface="Times New Roman"/>
                <a:cs typeface="Times New Roman"/>
                <a:sym typeface="Times New Roman"/>
              </a:rPr>
              <a:t>Centralized, Blockchain, Inter Planetary File System (IPFS), Governance.</a:t>
            </a:r>
            <a:endParaRPr sz="1600" i="1">
              <a:latin typeface="Times New Roman"/>
              <a:ea typeface="Times New Roman"/>
              <a:cs typeface="Times New Roman"/>
              <a:sym typeface="Times New Roman"/>
            </a:endParaRPr>
          </a:p>
          <a:p>
            <a:pPr marL="0" lvl="0" indent="0" algn="just" rtl="0">
              <a:lnSpc>
                <a:spcPct val="150000"/>
              </a:lnSpc>
              <a:spcBef>
                <a:spcPts val="640"/>
              </a:spcBef>
              <a:spcAft>
                <a:spcPts val="0"/>
              </a:spcAft>
              <a:buNone/>
            </a:pPr>
            <a:endParaRPr sz="1600">
              <a:latin typeface="Times New Roman"/>
              <a:ea typeface="Times New Roman"/>
              <a:cs typeface="Times New Roman"/>
              <a:sym typeface="Times New Roman"/>
            </a:endParaRPr>
          </a:p>
        </p:txBody>
      </p:sp>
      <p:sp>
        <p:nvSpPr>
          <p:cNvPr id="59" name="Google Shape;59;p8"/>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a:t>
            </a:fld>
            <a:endParaRPr/>
          </a:p>
        </p:txBody>
      </p:sp>
      <p:sp>
        <p:nvSpPr>
          <p:cNvPr id="60" name="Google Shape;60;p8"/>
          <p:cNvSpPr txBox="1">
            <a:spLocks noGrp="1"/>
          </p:cNvSpPr>
          <p:nvPr>
            <p:ph type="title"/>
          </p:nvPr>
        </p:nvSpPr>
        <p:spPr>
          <a:xfrm>
            <a:off x="689175" y="108900"/>
            <a:ext cx="8229600" cy="533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3200" b="1">
                <a:solidFill>
                  <a:srgbClr val="FFC000"/>
                </a:solidFill>
              </a:rPr>
              <a:t>ABSTRACT</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9"/>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4</a:t>
            </a:fld>
            <a:endParaRPr/>
          </a:p>
        </p:txBody>
      </p:sp>
      <p:sp>
        <p:nvSpPr>
          <p:cNvPr id="67" name="Google Shape;67;p9"/>
          <p:cNvSpPr txBox="1">
            <a:spLocks noGrp="1"/>
          </p:cNvSpPr>
          <p:nvPr>
            <p:ph type="title"/>
          </p:nvPr>
        </p:nvSpPr>
        <p:spPr>
          <a:xfrm>
            <a:off x="457200" y="152400"/>
            <a:ext cx="8229600" cy="533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3200" b="1">
                <a:solidFill>
                  <a:srgbClr val="FFC000"/>
                </a:solidFill>
              </a:rPr>
              <a:t>INTRODUCTION</a:t>
            </a:r>
            <a:endParaRPr b="1"/>
          </a:p>
        </p:txBody>
      </p:sp>
      <p:sp>
        <p:nvSpPr>
          <p:cNvPr id="68" name="Google Shape;68;p9"/>
          <p:cNvSpPr txBox="1">
            <a:spLocks noGrp="1"/>
          </p:cNvSpPr>
          <p:nvPr>
            <p:ph type="body" idx="1"/>
          </p:nvPr>
        </p:nvSpPr>
        <p:spPr>
          <a:xfrm>
            <a:off x="813925" y="1211925"/>
            <a:ext cx="7698900" cy="4144200"/>
          </a:xfrm>
          <a:prstGeom prst="rect">
            <a:avLst/>
          </a:prstGeom>
        </p:spPr>
        <p:txBody>
          <a:bodyPr spcFirstLastPara="1" wrap="square" lIns="91425" tIns="45700" rIns="91425" bIns="45700" anchor="t" anchorCtr="0">
            <a:noAutofit/>
          </a:bodyPr>
          <a:lstStyle/>
          <a:p>
            <a:pPr marL="0" lvl="0" indent="0" algn="just" rtl="0">
              <a:lnSpc>
                <a:spcPct val="115000"/>
              </a:lnSpc>
              <a:spcBef>
                <a:spcPts val="1200"/>
              </a:spcBef>
              <a:spcAft>
                <a:spcPts val="1200"/>
              </a:spcAft>
              <a:buNone/>
            </a:pPr>
            <a:r>
              <a:rPr lang="en-US" sz="1600">
                <a:latin typeface="Times New Roman"/>
                <a:ea typeface="Times New Roman"/>
                <a:cs typeface="Times New Roman"/>
                <a:sym typeface="Times New Roman"/>
              </a:rPr>
              <a:t>Rapid urbanization has intensified civic issues such as road damage, water leakage, and poor sanitation, while traditional systems remain slow, fragmented, and lack transparency. CitySolution addresses these challenges through a decentralized, data-driven platform that enables citizens to report incidents in real time with structured details such as title, description, category, GPS location, and optional images. Each report can be tracked, voted on, and analyzed through an interactive dashboard that visualizes category-wise distributions, status tracking, and community voting trends. To ensure transparency and data integrity, Blockchain is integrated for immutable incident registration, while IPFS provides secure, decentralized image storage. The system currently uses an in-memory database for demonstration but is scalable for integration with persistent databases. Additionally, its modular architecture supports future enhancements like duplicate incident detection, sentiment analysis of citizen feedback, and AI-based prioritization of critical issues. CitySolution fosters active citizen participation, accountability, and intelligent civic management, paving the way for smarter and more responsive urban governance.</a:t>
            </a:r>
            <a:endParaRPr sz="16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0"/>
          <p:cNvSpPr txBox="1">
            <a:spLocks noGrp="1"/>
          </p:cNvSpPr>
          <p:nvPr>
            <p:ph type="body" idx="1"/>
          </p:nvPr>
        </p:nvSpPr>
        <p:spPr>
          <a:xfrm>
            <a:off x="457200" y="783000"/>
            <a:ext cx="8466300" cy="55350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None/>
            </a:pPr>
            <a:r>
              <a:rPr lang="en-US" sz="2000" b="1">
                <a:latin typeface="Times New Roman"/>
                <a:ea typeface="Times New Roman"/>
                <a:cs typeface="Times New Roman"/>
                <a:sym typeface="Times New Roman"/>
              </a:rPr>
              <a:t>F. Shama, A. Aziz, and L. B. M. Deya, </a:t>
            </a:r>
            <a:r>
              <a:rPr lang="en-US" sz="2000">
                <a:latin typeface="Times New Roman"/>
                <a:ea typeface="Times New Roman"/>
                <a:cs typeface="Times New Roman"/>
                <a:sym typeface="Times New Roman"/>
              </a:rPr>
              <a:t>“CitySolution: A complaining task distributive mobile application for smart city corporation using deep learning,” </a:t>
            </a:r>
            <a:r>
              <a:rPr lang="en-US" sz="2000" i="1">
                <a:latin typeface="Times New Roman"/>
                <a:ea typeface="Times New Roman"/>
                <a:cs typeface="Times New Roman"/>
                <a:sym typeface="Times New Roman"/>
              </a:rPr>
              <a:t>SoftwareX</a:t>
            </a:r>
            <a:r>
              <a:rPr lang="en-US" sz="2000">
                <a:latin typeface="Times New Roman"/>
                <a:ea typeface="Times New Roman"/>
                <a:cs typeface="Times New Roman"/>
                <a:sym typeface="Times New Roman"/>
              </a:rPr>
              <a:t>, vol. 27, p. 101829, 2024, doi: 10.1016/j.softx.2024.101829.</a:t>
            </a:r>
            <a:endParaRPr sz="2000">
              <a:latin typeface="Times New Roman"/>
              <a:ea typeface="Times New Roman"/>
              <a:cs typeface="Times New Roman"/>
              <a:sym typeface="Times New Roman"/>
            </a:endParaRPr>
          </a:p>
          <a:p>
            <a:pPr marL="0" lvl="0" indent="0" algn="just" rtl="0">
              <a:spcBef>
                <a:spcPts val="640"/>
              </a:spcBef>
              <a:spcAft>
                <a:spcPts val="0"/>
              </a:spcAft>
              <a:buNone/>
            </a:pPr>
            <a:endParaRPr sz="20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2000" b="1">
                <a:latin typeface="Times New Roman"/>
                <a:ea typeface="Times New Roman"/>
                <a:cs typeface="Times New Roman"/>
                <a:sym typeface="Times New Roman"/>
              </a:rPr>
              <a:t>OBJECTIVES:</a:t>
            </a:r>
            <a:endParaRPr sz="2000" b="1">
              <a:latin typeface="Times New Roman"/>
              <a:ea typeface="Times New Roman"/>
              <a:cs typeface="Times New Roman"/>
              <a:sym typeface="Times New Roman"/>
            </a:endParaRPr>
          </a:p>
          <a:p>
            <a:pPr marL="457200" lvl="0" indent="-355600" algn="just" rtl="0">
              <a:lnSpc>
                <a:spcPct val="100000"/>
              </a:lnSpc>
              <a:spcBef>
                <a:spcPts val="640"/>
              </a:spcBef>
              <a:spcAft>
                <a:spcPts val="0"/>
              </a:spcAft>
              <a:buSzPts val="2000"/>
              <a:buFont typeface="Times New Roman"/>
              <a:buChar char="•"/>
            </a:pPr>
            <a:r>
              <a:rPr lang="en-US" sz="2000">
                <a:latin typeface="Times New Roman"/>
                <a:ea typeface="Times New Roman"/>
                <a:cs typeface="Times New Roman"/>
                <a:sym typeface="Times New Roman"/>
              </a:rPr>
              <a:t>To design a decentralized and transparent data management platform for smart city incident reporting.</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enable location-based tagging for precise identification of incident areas.</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provide an interactive and user-friendly web interface for citizens and administrators.</a:t>
            </a:r>
            <a:br>
              <a:rPr lang="en-US" sz="2000">
                <a:latin typeface="Times New Roman"/>
                <a:ea typeface="Times New Roman"/>
                <a:cs typeface="Times New Roman"/>
                <a:sym typeface="Times New Roman"/>
              </a:rPr>
            </a:br>
            <a:endParaRPr sz="200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To improve response efficiency and accountability in urban incident management through automation.</a:t>
            </a:r>
            <a:endParaRPr sz="2000">
              <a:latin typeface="Times New Roman"/>
              <a:ea typeface="Times New Roman"/>
              <a:cs typeface="Times New Roman"/>
              <a:sym typeface="Times New Roman"/>
            </a:endParaRPr>
          </a:p>
          <a:p>
            <a:pPr marL="0" lvl="0" indent="0" algn="l" rtl="0">
              <a:spcBef>
                <a:spcPts val="640"/>
              </a:spcBef>
              <a:spcAft>
                <a:spcPts val="0"/>
              </a:spcAft>
              <a:buNone/>
            </a:pPr>
            <a:endParaRPr sz="2000"/>
          </a:p>
        </p:txBody>
      </p:sp>
      <p:sp>
        <p:nvSpPr>
          <p:cNvPr id="75" name="Google Shape;75;p10"/>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5</a:t>
            </a:fld>
            <a:endParaRPr/>
          </a:p>
        </p:txBody>
      </p:sp>
      <p:sp>
        <p:nvSpPr>
          <p:cNvPr id="76" name="Google Shape;76;p10"/>
          <p:cNvSpPr txBox="1">
            <a:spLocks noGrp="1"/>
          </p:cNvSpPr>
          <p:nvPr>
            <p:ph type="title"/>
          </p:nvPr>
        </p:nvSpPr>
        <p:spPr>
          <a:xfrm>
            <a:off x="457200" y="152400"/>
            <a:ext cx="8229600" cy="533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3200" b="1">
                <a:solidFill>
                  <a:srgbClr val="FFC000"/>
                </a:solidFill>
              </a:rPr>
              <a:t>BASE PAPER &amp; OBJECTIVES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1"/>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6</a:t>
            </a:fld>
            <a:endParaRPr/>
          </a:p>
        </p:txBody>
      </p:sp>
      <p:sp>
        <p:nvSpPr>
          <p:cNvPr id="83" name="Google Shape;83;p11"/>
          <p:cNvSpPr txBox="1">
            <a:spLocks noGrp="1"/>
          </p:cNvSpPr>
          <p:nvPr>
            <p:ph type="title"/>
          </p:nvPr>
        </p:nvSpPr>
        <p:spPr>
          <a:xfrm>
            <a:off x="239725" y="158669"/>
            <a:ext cx="8229600" cy="5286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sz="2400" b="1">
                <a:solidFill>
                  <a:srgbClr val="FFC000"/>
                </a:solidFill>
                <a:latin typeface="Times New Roman"/>
                <a:ea typeface="Times New Roman"/>
                <a:cs typeface="Times New Roman"/>
                <a:sym typeface="Times New Roman"/>
              </a:rPr>
              <a:t>BLOCK DIAGRAM</a:t>
            </a:r>
            <a:endParaRPr>
              <a:latin typeface="Times New Roman"/>
              <a:ea typeface="Times New Roman"/>
              <a:cs typeface="Times New Roman"/>
              <a:sym typeface="Times New Roman"/>
            </a:endParaRPr>
          </a:p>
        </p:txBody>
      </p:sp>
      <p:pic>
        <p:nvPicPr>
          <p:cNvPr id="84" name="Google Shape;84;p11" title="graphviz.png"/>
          <p:cNvPicPr preferRelativeResize="0"/>
          <p:nvPr/>
        </p:nvPicPr>
        <p:blipFill>
          <a:blip r:embed="rId3">
            <a:alphaModFix/>
          </a:blip>
          <a:stretch>
            <a:fillRect/>
          </a:stretch>
        </p:blipFill>
        <p:spPr>
          <a:xfrm>
            <a:off x="3337650" y="687275"/>
            <a:ext cx="2435825" cy="61707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2"/>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7</a:t>
            </a:fld>
            <a:endParaRPr/>
          </a:p>
        </p:txBody>
      </p:sp>
      <p:sp>
        <p:nvSpPr>
          <p:cNvPr id="91" name="Google Shape;91;p12"/>
          <p:cNvSpPr txBox="1">
            <a:spLocks noGrp="1"/>
          </p:cNvSpPr>
          <p:nvPr>
            <p:ph type="body" idx="1"/>
          </p:nvPr>
        </p:nvSpPr>
        <p:spPr>
          <a:xfrm>
            <a:off x="511200" y="831700"/>
            <a:ext cx="8712900" cy="5897700"/>
          </a:xfrm>
          <a:prstGeom prst="rect">
            <a:avLst/>
          </a:prstGeom>
        </p:spPr>
        <p:txBody>
          <a:bodyPr spcFirstLastPara="1" wrap="square" lIns="91425" tIns="45700" rIns="91425" bIns="45700" anchor="t" anchorCtr="0">
            <a:noAutofit/>
          </a:bodyPr>
          <a:lstStyle/>
          <a:p>
            <a:pPr marL="0" lvl="0" indent="0" algn="l" rtl="0">
              <a:lnSpc>
                <a:spcPct val="100000"/>
              </a:lnSpc>
              <a:spcBef>
                <a:spcPts val="1000"/>
              </a:spcBef>
              <a:spcAft>
                <a:spcPts val="0"/>
              </a:spcAft>
              <a:buNone/>
            </a:pPr>
            <a:r>
              <a:rPr lang="en-US" sz="1600" b="1">
                <a:latin typeface="Times New Roman"/>
                <a:ea typeface="Times New Roman"/>
                <a:cs typeface="Times New Roman"/>
                <a:sym typeface="Times New Roman"/>
              </a:rPr>
              <a:t>1. User Authentication</a:t>
            </a:r>
            <a:endParaRPr sz="1600" b="1">
              <a:latin typeface="Times New Roman"/>
              <a:ea typeface="Times New Roman"/>
              <a:cs typeface="Times New Roman"/>
              <a:sym typeface="Times New Roman"/>
            </a:endParaRPr>
          </a:p>
          <a:p>
            <a:pPr marL="457200" lvl="0" indent="-330200" algn="l" rtl="0">
              <a:lnSpc>
                <a:spcPct val="100000"/>
              </a:lnSpc>
              <a:spcBef>
                <a:spcPts val="1000"/>
              </a:spcBef>
              <a:spcAft>
                <a:spcPts val="0"/>
              </a:spcAft>
              <a:buSzPts val="1600"/>
              <a:buFont typeface="Times New Roman"/>
              <a:buChar char="•"/>
            </a:pPr>
            <a:r>
              <a:rPr lang="en-US" sz="1600">
                <a:latin typeface="Times New Roman"/>
                <a:ea typeface="Times New Roman"/>
                <a:cs typeface="Times New Roman"/>
                <a:sym typeface="Times New Roman"/>
              </a:rPr>
              <a:t>The process begins with secure user authentication using JWT-based login and registration.</a:t>
            </a: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Users can create an account or log in to access all features of the platform.</a:t>
            </a: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Each user’s data and activity are managed securely.</a:t>
            </a:r>
            <a:endParaRPr sz="1600">
              <a:latin typeface="Times New Roman"/>
              <a:ea typeface="Times New Roman"/>
              <a:cs typeface="Times New Roman"/>
              <a:sym typeface="Times New Roman"/>
            </a:endParaRPr>
          </a:p>
          <a:p>
            <a:pPr marL="0" lvl="0" indent="0" algn="l" rtl="0">
              <a:lnSpc>
                <a:spcPct val="100000"/>
              </a:lnSpc>
              <a:spcBef>
                <a:spcPts val="1000"/>
              </a:spcBef>
              <a:spcAft>
                <a:spcPts val="0"/>
              </a:spcAft>
              <a:buNone/>
            </a:pPr>
            <a:r>
              <a:rPr lang="en-US" sz="1600" b="1">
                <a:latin typeface="Times New Roman"/>
                <a:ea typeface="Times New Roman"/>
                <a:cs typeface="Times New Roman"/>
                <a:sym typeface="Times New Roman"/>
              </a:rPr>
              <a:t>2. Issue Reporting</a:t>
            </a:r>
            <a:endParaRPr sz="1600" b="1">
              <a:latin typeface="Times New Roman"/>
              <a:ea typeface="Times New Roman"/>
              <a:cs typeface="Times New Roman"/>
              <a:sym typeface="Times New Roman"/>
            </a:endParaRPr>
          </a:p>
          <a:p>
            <a:pPr marL="457200" lvl="0" indent="-330200" algn="l" rtl="0">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After logging in, citizens can report civic issues such as potholes, water leaks, or power failures.</a:t>
            </a: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The user submits the issue details including title, description, category, location, and an optional image upload.</a:t>
            </a: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The submitted data is sent to the backend API for storage and verification.</a:t>
            </a:r>
            <a:endParaRPr sz="1600">
              <a:latin typeface="Times New Roman"/>
              <a:ea typeface="Times New Roman"/>
              <a:cs typeface="Times New Roman"/>
              <a:sym typeface="Times New Roman"/>
            </a:endParaRPr>
          </a:p>
          <a:p>
            <a:pPr marL="0" lvl="0" indent="0" algn="l" rtl="0">
              <a:lnSpc>
                <a:spcPct val="100000"/>
              </a:lnSpc>
              <a:spcBef>
                <a:spcPts val="1400"/>
              </a:spcBef>
              <a:spcAft>
                <a:spcPts val="0"/>
              </a:spcAft>
              <a:buNone/>
            </a:pPr>
            <a:r>
              <a:rPr lang="en-US" sz="1600" b="1">
                <a:latin typeface="Times New Roman"/>
                <a:ea typeface="Times New Roman"/>
                <a:cs typeface="Times New Roman"/>
                <a:sym typeface="Times New Roman"/>
              </a:rPr>
              <a:t>3. Issue Listing</a:t>
            </a:r>
            <a:endParaRPr sz="1600" b="1">
              <a:latin typeface="Times New Roman"/>
              <a:ea typeface="Times New Roman"/>
              <a:cs typeface="Times New Roman"/>
              <a:sym typeface="Times New Roman"/>
            </a:endParaRPr>
          </a:p>
          <a:p>
            <a:pPr marL="457200" lvl="0" indent="-330200" algn="l" rtl="0">
              <a:lnSpc>
                <a:spcPct val="100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All submitted issues are fetched from the backend and displayed in a structured Issue Feed.</a:t>
            </a: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Users can filter or search issues by category, location, or status.</a:t>
            </a:r>
            <a:endParaRPr sz="1600">
              <a:latin typeface="Times New Roman"/>
              <a:ea typeface="Times New Roman"/>
              <a:cs typeface="Times New Roman"/>
              <a:sym typeface="Times New Roman"/>
            </a:endParaRPr>
          </a:p>
          <a:p>
            <a:pPr marL="457200" lvl="0" indent="-330200" algn="l" rtl="0">
              <a:lnSpc>
                <a:spcPct val="100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The system ensures real-time updates and displays the latest issues first.</a:t>
            </a:r>
            <a:endParaRPr sz="1600">
              <a:latin typeface="Times New Roman"/>
              <a:ea typeface="Times New Roman"/>
              <a:cs typeface="Times New Roman"/>
              <a:sym typeface="Times New Roman"/>
            </a:endParaRPr>
          </a:p>
          <a:p>
            <a:pPr marL="0" lvl="0" indent="0" algn="l" rtl="0">
              <a:lnSpc>
                <a:spcPct val="115000"/>
              </a:lnSpc>
              <a:spcBef>
                <a:spcPts val="1400"/>
              </a:spcBef>
              <a:spcAft>
                <a:spcPts val="0"/>
              </a:spcAft>
              <a:buNone/>
            </a:pPr>
            <a:r>
              <a:rPr lang="en-US" sz="1600" b="1">
                <a:latin typeface="Times New Roman"/>
                <a:ea typeface="Times New Roman"/>
                <a:cs typeface="Times New Roman"/>
                <a:sym typeface="Times New Roman"/>
              </a:rPr>
              <a:t>4. Issue Management</a:t>
            </a:r>
            <a:endParaRPr sz="1600" b="1">
              <a:latin typeface="Times New Roman"/>
              <a:ea typeface="Times New Roman"/>
              <a:cs typeface="Times New Roman"/>
              <a:sym typeface="Times New Roman"/>
            </a:endParaRPr>
          </a:p>
          <a:p>
            <a:pPr marL="457200" lvl="0" indent="-330200" algn="l" rtl="0">
              <a:lnSpc>
                <a:spcPct val="115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Authorized users or admins can update, delete, or change the status of issues (Pending, In Progress, Resolved).</a:t>
            </a:r>
            <a:endParaRPr sz="1600">
              <a:latin typeface="Times New Roman"/>
              <a:ea typeface="Times New Roman"/>
              <a:cs typeface="Times New Roman"/>
              <a:sym typeface="Times New Roman"/>
            </a:endParaRPr>
          </a:p>
          <a:p>
            <a:pPr marL="457200" lvl="0" indent="-330200" algn="l" rtl="0">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Backend validations prevent duplicate entries and ensure accurate record maintenance.</a:t>
            </a:r>
            <a:endParaRPr sz="1600">
              <a:latin typeface="Times New Roman"/>
              <a:ea typeface="Times New Roman"/>
              <a:cs typeface="Times New Roman"/>
              <a:sym typeface="Times New Roman"/>
            </a:endParaRPr>
          </a:p>
          <a:p>
            <a:pPr marL="457200" lvl="0" indent="-330200" algn="l" rtl="0">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Each issue is uniquely identified for easy tracking.</a:t>
            </a:r>
            <a:endParaRPr sz="1600">
              <a:latin typeface="Times New Roman"/>
              <a:ea typeface="Times New Roman"/>
              <a:cs typeface="Times New Roman"/>
              <a:sym typeface="Times New Roman"/>
            </a:endParaRPr>
          </a:p>
          <a:p>
            <a:pPr marL="0" lvl="0" indent="0" algn="l" rtl="0">
              <a:lnSpc>
                <a:spcPct val="100000"/>
              </a:lnSpc>
              <a:spcBef>
                <a:spcPts val="1200"/>
              </a:spcBef>
              <a:spcAft>
                <a:spcPts val="1200"/>
              </a:spcAft>
              <a:buNone/>
            </a:pPr>
            <a:endParaRPr sz="1600">
              <a:latin typeface="Times New Roman"/>
              <a:ea typeface="Times New Roman"/>
              <a:cs typeface="Times New Roman"/>
              <a:sym typeface="Times New Roman"/>
            </a:endParaRPr>
          </a:p>
        </p:txBody>
      </p:sp>
      <p:sp>
        <p:nvSpPr>
          <p:cNvPr id="92" name="Google Shape;92;p12"/>
          <p:cNvSpPr txBox="1">
            <a:spLocks noGrp="1"/>
          </p:cNvSpPr>
          <p:nvPr>
            <p:ph type="title"/>
          </p:nvPr>
        </p:nvSpPr>
        <p:spPr>
          <a:xfrm>
            <a:off x="239725" y="158669"/>
            <a:ext cx="8229600" cy="5286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sz="2400" b="1">
                <a:solidFill>
                  <a:srgbClr val="FFC000"/>
                </a:solidFill>
                <a:latin typeface="Times New Roman"/>
                <a:ea typeface="Times New Roman"/>
                <a:cs typeface="Times New Roman"/>
                <a:sym typeface="Times New Roman"/>
              </a:rPr>
              <a:t>METHODOLOGY</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3"/>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8</a:t>
            </a:fld>
            <a:endParaRPr/>
          </a:p>
        </p:txBody>
      </p:sp>
      <p:sp>
        <p:nvSpPr>
          <p:cNvPr id="99" name="Google Shape;99;p13"/>
          <p:cNvSpPr txBox="1"/>
          <p:nvPr/>
        </p:nvSpPr>
        <p:spPr>
          <a:xfrm>
            <a:off x="526500" y="687275"/>
            <a:ext cx="8356500" cy="521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5. Basic UI Components</a:t>
            </a:r>
            <a:endParaRPr sz="1600" b="1">
              <a:solidFill>
                <a:schemeClr val="dk1"/>
              </a:solidFill>
              <a:latin typeface="Times New Roman"/>
              <a:ea typeface="Times New Roman"/>
              <a:cs typeface="Times New Roman"/>
              <a:sym typeface="Times New Roman"/>
            </a:endParaRPr>
          </a:p>
          <a:p>
            <a:pPr marL="457200" lvl="0" indent="-330200" algn="l" rtl="0">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 platform uses a responsive and modern user interface built with React and Tailwind CSS.</a:t>
            </a:r>
            <a:endParaRPr sz="1600">
              <a:solidFill>
                <a:schemeClr val="dk1"/>
              </a:solidFill>
              <a:latin typeface="Times New Roman"/>
              <a:ea typeface="Times New Roman"/>
              <a:cs typeface="Times New Roman"/>
              <a:sym typeface="Times New Roman"/>
            </a:endParaRPr>
          </a:p>
          <a:p>
            <a:pPr marL="457200" lvl="0"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Reusable UI components improve design consistency and user experience across all pages.</a:t>
            </a:r>
            <a:endParaRPr sz="1600">
              <a:solidFill>
                <a:schemeClr val="dk1"/>
              </a:solidFill>
              <a:latin typeface="Times New Roman"/>
              <a:ea typeface="Times New Roman"/>
              <a:cs typeface="Times New Roman"/>
              <a:sym typeface="Times New Roman"/>
            </a:endParaRPr>
          </a:p>
          <a:p>
            <a:pPr marL="457200" lvl="0"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Notifications and alerts guide users throughout the process.</a:t>
            </a:r>
            <a:endParaRPr sz="1600">
              <a:solidFill>
                <a:schemeClr val="dk1"/>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6. Map View</a:t>
            </a:r>
            <a:endParaRPr sz="1600" b="1">
              <a:solidFill>
                <a:schemeClr val="dk1"/>
              </a:solidFill>
              <a:latin typeface="Times New Roman"/>
              <a:ea typeface="Times New Roman"/>
              <a:cs typeface="Times New Roman"/>
              <a:sym typeface="Times New Roman"/>
            </a:endParaRPr>
          </a:p>
          <a:p>
            <a:pPr marL="457200" lvl="0" indent="-330200" algn="l" rtl="0">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 Map View displays all reported incidents geographically.</a:t>
            </a:r>
            <a:endParaRPr sz="1600">
              <a:solidFill>
                <a:schemeClr val="dk1"/>
              </a:solidFill>
              <a:latin typeface="Times New Roman"/>
              <a:ea typeface="Times New Roman"/>
              <a:cs typeface="Times New Roman"/>
              <a:sym typeface="Times New Roman"/>
            </a:endParaRPr>
          </a:p>
          <a:p>
            <a:pPr marL="457200" lvl="0"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Each issue marker is color-coded by category (e.g., road, water, electricity).</a:t>
            </a:r>
            <a:endParaRPr sz="1600">
              <a:solidFill>
                <a:schemeClr val="dk1"/>
              </a:solidFill>
              <a:latin typeface="Times New Roman"/>
              <a:ea typeface="Times New Roman"/>
              <a:cs typeface="Times New Roman"/>
              <a:sym typeface="Times New Roman"/>
            </a:endParaRPr>
          </a:p>
          <a:p>
            <a:pPr marL="457200" lvl="0"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Users can click on markers to view details such as description, image, and current status.</a:t>
            </a:r>
            <a:endParaRPr sz="1600">
              <a:solidFill>
                <a:schemeClr val="dk1"/>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7. Analytics Dashboard</a:t>
            </a:r>
            <a:endParaRPr sz="1600" b="1">
              <a:solidFill>
                <a:schemeClr val="dk1"/>
              </a:solidFill>
              <a:latin typeface="Times New Roman"/>
              <a:ea typeface="Times New Roman"/>
              <a:cs typeface="Times New Roman"/>
              <a:sym typeface="Times New Roman"/>
            </a:endParaRPr>
          </a:p>
          <a:p>
            <a:pPr marL="457200" lvl="0" indent="-330200" algn="l" rtl="0">
              <a:lnSpc>
                <a:spcPct val="115000"/>
              </a:lnSpc>
              <a:spcBef>
                <a:spcPts val="12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The Analytics Dashboard provides visual insights into reported issues.</a:t>
            </a:r>
            <a:endParaRPr sz="1600">
              <a:solidFill>
                <a:schemeClr val="dk1"/>
              </a:solidFill>
              <a:latin typeface="Times New Roman"/>
              <a:ea typeface="Times New Roman"/>
              <a:cs typeface="Times New Roman"/>
              <a:sym typeface="Times New Roman"/>
            </a:endParaRPr>
          </a:p>
          <a:p>
            <a:pPr marL="457200" lvl="0"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It includes charts and graphs showing:</a:t>
            </a:r>
            <a:endParaRPr sz="1600">
              <a:solidFill>
                <a:schemeClr val="dk1"/>
              </a:solidFill>
              <a:latin typeface="Times New Roman"/>
              <a:ea typeface="Times New Roman"/>
              <a:cs typeface="Times New Roman"/>
              <a:sym typeface="Times New Roman"/>
            </a:endParaRPr>
          </a:p>
          <a:p>
            <a:pPr marL="914400" lvl="1"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Category-wise distribution</a:t>
            </a:r>
            <a:endParaRPr sz="1600">
              <a:solidFill>
                <a:schemeClr val="dk1"/>
              </a:solidFill>
              <a:latin typeface="Times New Roman"/>
              <a:ea typeface="Times New Roman"/>
              <a:cs typeface="Times New Roman"/>
              <a:sym typeface="Times New Roman"/>
            </a:endParaRPr>
          </a:p>
          <a:p>
            <a:pPr marL="914400" lvl="1"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Issue trends over time</a:t>
            </a:r>
            <a:endParaRPr sz="1600">
              <a:solidFill>
                <a:schemeClr val="dk1"/>
              </a:solidFill>
              <a:latin typeface="Times New Roman"/>
              <a:ea typeface="Times New Roman"/>
              <a:cs typeface="Times New Roman"/>
              <a:sym typeface="Times New Roman"/>
            </a:endParaRPr>
          </a:p>
          <a:p>
            <a:pPr marL="914400" lvl="1"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Top-voted and most common issue types</a:t>
            </a:r>
            <a:endParaRPr sz="1600">
              <a:solidFill>
                <a:schemeClr val="dk1"/>
              </a:solidFill>
              <a:latin typeface="Times New Roman"/>
              <a:ea typeface="Times New Roman"/>
              <a:cs typeface="Times New Roman"/>
              <a:sym typeface="Times New Roman"/>
            </a:endParaRPr>
          </a:p>
          <a:p>
            <a:pPr marL="457200" lvl="0" indent="-330200" algn="l" rtl="0">
              <a:lnSpc>
                <a:spcPct val="115000"/>
              </a:lnSpc>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This helps civic authorities make data-driven decisions.</a:t>
            </a:r>
            <a:endParaRPr sz="1600">
              <a:solidFill>
                <a:schemeClr val="dk1"/>
              </a:solidFill>
              <a:latin typeface="Times New Roman"/>
              <a:ea typeface="Times New Roman"/>
              <a:cs typeface="Times New Roman"/>
              <a:sym typeface="Times New Roman"/>
            </a:endParaRPr>
          </a:p>
        </p:txBody>
      </p:sp>
      <p:sp>
        <p:nvSpPr>
          <p:cNvPr id="100" name="Google Shape;100;p13"/>
          <p:cNvSpPr txBox="1">
            <a:spLocks noGrp="1"/>
          </p:cNvSpPr>
          <p:nvPr>
            <p:ph type="title"/>
          </p:nvPr>
        </p:nvSpPr>
        <p:spPr>
          <a:xfrm>
            <a:off x="239725" y="158669"/>
            <a:ext cx="8229600" cy="5286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sz="2400" b="1">
                <a:solidFill>
                  <a:srgbClr val="FFC000"/>
                </a:solidFill>
                <a:latin typeface="Times New Roman"/>
                <a:ea typeface="Times New Roman"/>
                <a:cs typeface="Times New Roman"/>
                <a:sym typeface="Times New Roman"/>
              </a:rPr>
              <a:t>METHODOLOGY</a:t>
            </a:r>
            <a:endParaRPr b="1">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4"/>
          <p:cNvSpPr txBox="1">
            <a:spLocks noGrp="1"/>
          </p:cNvSpPr>
          <p:nvPr>
            <p:ph type="body" idx="1"/>
          </p:nvPr>
        </p:nvSpPr>
        <p:spPr>
          <a:xfrm>
            <a:off x="510375" y="1281225"/>
            <a:ext cx="8379300" cy="4526100"/>
          </a:xfrm>
          <a:prstGeom prst="rect">
            <a:avLst/>
          </a:prstGeom>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600" b="1">
                <a:latin typeface="Times New Roman"/>
                <a:ea typeface="Times New Roman"/>
                <a:cs typeface="Times New Roman"/>
                <a:sym typeface="Times New Roman"/>
              </a:rPr>
              <a:t>8. Voting on Issues</a:t>
            </a:r>
            <a:endParaRPr sz="1600" b="1">
              <a:latin typeface="Times New Roman"/>
              <a:ea typeface="Times New Roman"/>
              <a:cs typeface="Times New Roman"/>
              <a:sym typeface="Times New Roman"/>
            </a:endParaRPr>
          </a:p>
          <a:p>
            <a:pPr marL="457200" lvl="0" indent="-330200" algn="l" rtl="0">
              <a:lnSpc>
                <a:spcPct val="115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Citizens can vote on issues reported by others to indicate community priority.</a:t>
            </a:r>
            <a:endParaRPr sz="1600">
              <a:latin typeface="Times New Roman"/>
              <a:ea typeface="Times New Roman"/>
              <a:cs typeface="Times New Roman"/>
              <a:sym typeface="Times New Roman"/>
            </a:endParaRPr>
          </a:p>
          <a:p>
            <a:pPr marL="457200" lvl="0" indent="-330200" algn="l" rtl="0">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The voting feature encourages engagement and helps authorities identify urgent problems faster.</a:t>
            </a:r>
            <a:endParaRPr sz="1600">
              <a:latin typeface="Times New Roman"/>
              <a:ea typeface="Times New Roman"/>
              <a:cs typeface="Times New Roman"/>
              <a:sym typeface="Times New Roman"/>
            </a:endParaRPr>
          </a:p>
          <a:p>
            <a:pPr marL="457200" lvl="0" indent="-330200" algn="l" rtl="0">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The most voted issues appear at the top of the feed.</a:t>
            </a:r>
            <a:endParaRPr sz="1600">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US" sz="1600" b="1">
                <a:latin typeface="Times New Roman"/>
                <a:ea typeface="Times New Roman"/>
                <a:cs typeface="Times New Roman"/>
                <a:sym typeface="Times New Roman"/>
              </a:rPr>
              <a:t>9. Blockchain &amp; IPFS Integration </a:t>
            </a:r>
            <a:endParaRPr sz="1600" b="1">
              <a:latin typeface="Times New Roman"/>
              <a:ea typeface="Times New Roman"/>
              <a:cs typeface="Times New Roman"/>
              <a:sym typeface="Times New Roman"/>
            </a:endParaRPr>
          </a:p>
          <a:p>
            <a:pPr marL="457200" lvl="0" indent="-330200" algn="l" rtl="0">
              <a:lnSpc>
                <a:spcPct val="115000"/>
              </a:lnSpc>
              <a:spcBef>
                <a:spcPts val="1200"/>
              </a:spcBef>
              <a:spcAft>
                <a:spcPts val="0"/>
              </a:spcAft>
              <a:buSzPts val="1600"/>
              <a:buFont typeface="Times New Roman"/>
              <a:buChar char="•"/>
            </a:pPr>
            <a:r>
              <a:rPr lang="en-US" sz="1600">
                <a:latin typeface="Times New Roman"/>
                <a:ea typeface="Times New Roman"/>
                <a:cs typeface="Times New Roman"/>
                <a:sym typeface="Times New Roman"/>
              </a:rPr>
              <a:t>For enhanced transparency, the platform includes optional blockchain integration.</a:t>
            </a:r>
            <a:endParaRPr sz="1600">
              <a:latin typeface="Times New Roman"/>
              <a:ea typeface="Times New Roman"/>
              <a:cs typeface="Times New Roman"/>
              <a:sym typeface="Times New Roman"/>
            </a:endParaRPr>
          </a:p>
          <a:p>
            <a:pPr marL="457200" lvl="0" indent="-330200" algn="l" rtl="0">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Each incident can be hashed and stored on-chain, ensuring immutability and preventing tampering.</a:t>
            </a:r>
            <a:endParaRPr sz="1600">
              <a:latin typeface="Times New Roman"/>
              <a:ea typeface="Times New Roman"/>
              <a:cs typeface="Times New Roman"/>
              <a:sym typeface="Times New Roman"/>
            </a:endParaRPr>
          </a:p>
          <a:p>
            <a:pPr marL="457200" lvl="0" indent="-330200" algn="l" rtl="0">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Uploaded images can be stored in IPFS (InterPlanetary File System) for decentralized storage.</a:t>
            </a:r>
            <a:endParaRPr sz="1600">
              <a:latin typeface="Times New Roman"/>
              <a:ea typeface="Times New Roman"/>
              <a:cs typeface="Times New Roman"/>
              <a:sym typeface="Times New Roman"/>
            </a:endParaRPr>
          </a:p>
          <a:p>
            <a:pPr marL="457200" lvl="0" indent="-330200" algn="l" rtl="0">
              <a:lnSpc>
                <a:spcPct val="115000"/>
              </a:lnSpc>
              <a:spcBef>
                <a:spcPts val="0"/>
              </a:spcBef>
              <a:spcAft>
                <a:spcPts val="0"/>
              </a:spcAft>
              <a:buSzPts val="1600"/>
              <a:buFont typeface="Times New Roman"/>
              <a:buChar char="•"/>
            </a:pPr>
            <a:r>
              <a:rPr lang="en-US" sz="1600">
                <a:latin typeface="Times New Roman"/>
                <a:ea typeface="Times New Roman"/>
                <a:cs typeface="Times New Roman"/>
                <a:sym typeface="Times New Roman"/>
              </a:rPr>
              <a:t>Together, these components ensure trust, accountability, and long-term data integrity.</a:t>
            </a:r>
            <a:endParaRPr sz="1600">
              <a:latin typeface="Times New Roman"/>
              <a:ea typeface="Times New Roman"/>
              <a:cs typeface="Times New Roman"/>
              <a:sym typeface="Times New Roman"/>
            </a:endParaRPr>
          </a:p>
          <a:p>
            <a:pPr marL="0" lvl="0" indent="0" algn="l" rtl="0">
              <a:spcBef>
                <a:spcPts val="1200"/>
              </a:spcBef>
              <a:spcAft>
                <a:spcPts val="0"/>
              </a:spcAft>
              <a:buNone/>
            </a:pPr>
            <a:endParaRPr/>
          </a:p>
        </p:txBody>
      </p:sp>
      <p:sp>
        <p:nvSpPr>
          <p:cNvPr id="107" name="Google Shape;107;p14"/>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9</a:t>
            </a:fld>
            <a:endParaRPr/>
          </a:p>
        </p:txBody>
      </p:sp>
      <p:sp>
        <p:nvSpPr>
          <p:cNvPr id="108" name="Google Shape;108;p14"/>
          <p:cNvSpPr txBox="1"/>
          <p:nvPr/>
        </p:nvSpPr>
        <p:spPr>
          <a:xfrm>
            <a:off x="652450" y="119350"/>
            <a:ext cx="7513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400" b="1">
                <a:solidFill>
                  <a:srgbClr val="FFC000"/>
                </a:solidFill>
                <a:latin typeface="Times New Roman"/>
                <a:ea typeface="Times New Roman"/>
                <a:cs typeface="Times New Roman"/>
                <a:sym typeface="Times New Roman"/>
              </a:rPr>
              <a:t>METHODOLOGY</a:t>
            </a:r>
            <a:endParaRPr sz="4400" b="1">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10</a:t>
            </a:fld>
            <a:endParaRPr/>
          </a:p>
        </p:txBody>
      </p:sp>
      <p:pic>
        <p:nvPicPr>
          <p:cNvPr id="115" name="Google Shape;115;p15"/>
          <p:cNvPicPr preferRelativeResize="0"/>
          <p:nvPr/>
        </p:nvPicPr>
        <p:blipFill>
          <a:blip r:embed="rId3">
            <a:alphaModFix/>
          </a:blip>
          <a:stretch>
            <a:fillRect/>
          </a:stretch>
        </p:blipFill>
        <p:spPr>
          <a:xfrm>
            <a:off x="2307500" y="731650"/>
            <a:ext cx="4565248" cy="59978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6"/>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11</a:t>
            </a:fld>
            <a:endParaRPr/>
          </a:p>
        </p:txBody>
      </p:sp>
      <p:pic>
        <p:nvPicPr>
          <p:cNvPr id="122" name="Google Shape;122;p16"/>
          <p:cNvPicPr preferRelativeResize="0"/>
          <p:nvPr/>
        </p:nvPicPr>
        <p:blipFill>
          <a:blip r:embed="rId3">
            <a:alphaModFix/>
          </a:blip>
          <a:stretch>
            <a:fillRect/>
          </a:stretch>
        </p:blipFill>
        <p:spPr>
          <a:xfrm>
            <a:off x="820325" y="1104925"/>
            <a:ext cx="7712950" cy="4133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7"/>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12</a:t>
            </a:fld>
            <a:endParaRPr/>
          </a:p>
        </p:txBody>
      </p:sp>
      <p:sp>
        <p:nvSpPr>
          <p:cNvPr id="129" name="Google Shape;129;p17"/>
          <p:cNvSpPr txBox="1"/>
          <p:nvPr/>
        </p:nvSpPr>
        <p:spPr>
          <a:xfrm>
            <a:off x="652450" y="119350"/>
            <a:ext cx="7513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400" b="1">
                <a:solidFill>
                  <a:srgbClr val="FFC000"/>
                </a:solidFill>
                <a:latin typeface="Times New Roman"/>
                <a:ea typeface="Times New Roman"/>
                <a:cs typeface="Times New Roman"/>
                <a:sym typeface="Times New Roman"/>
              </a:rPr>
              <a:t>PERFORMANCE METRICS</a:t>
            </a:r>
            <a:endParaRPr sz="4400" b="1">
              <a:solidFill>
                <a:schemeClr val="dk1"/>
              </a:solidFill>
              <a:latin typeface="Times New Roman"/>
              <a:ea typeface="Times New Roman"/>
              <a:cs typeface="Times New Roman"/>
              <a:sym typeface="Times New Roman"/>
            </a:endParaRPr>
          </a:p>
        </p:txBody>
      </p:sp>
      <p:graphicFrame>
        <p:nvGraphicFramePr>
          <p:cNvPr id="130" name="Google Shape;130;p17"/>
          <p:cNvGraphicFramePr/>
          <p:nvPr/>
        </p:nvGraphicFramePr>
        <p:xfrm>
          <a:off x="952500" y="1599000"/>
          <a:ext cx="7513500" cy="3586850"/>
        </p:xfrm>
        <a:graphic>
          <a:graphicData uri="http://schemas.openxmlformats.org/drawingml/2006/table">
            <a:tbl>
              <a:tblPr>
                <a:noFill/>
                <a:tableStyleId>{B4D36DA7-B5A8-4BEA-9BC2-FABB74EA3EE1}</a:tableStyleId>
              </a:tblPr>
              <a:tblGrid>
                <a:gridCol w="3756750">
                  <a:extLst>
                    <a:ext uri="{9D8B030D-6E8A-4147-A177-3AD203B41FA5}">
                      <a16:colId xmlns:a16="http://schemas.microsoft.com/office/drawing/2014/main" val="20000"/>
                    </a:ext>
                  </a:extLst>
                </a:gridCol>
                <a:gridCol w="3756750">
                  <a:extLst>
                    <a:ext uri="{9D8B030D-6E8A-4147-A177-3AD203B41FA5}">
                      <a16:colId xmlns:a16="http://schemas.microsoft.com/office/drawing/2014/main" val="20001"/>
                    </a:ext>
                  </a:extLst>
                </a:gridCol>
              </a:tblGrid>
              <a:tr h="698600">
                <a:tc>
                  <a:txBody>
                    <a:bodyPr/>
                    <a:lstStyle/>
                    <a:p>
                      <a:pPr marL="0" lvl="0" indent="0" algn="l" rtl="0">
                        <a:spcBef>
                          <a:spcPts val="0"/>
                        </a:spcBef>
                        <a:spcAft>
                          <a:spcPts val="0"/>
                        </a:spcAft>
                        <a:buNone/>
                      </a:pPr>
                      <a:r>
                        <a:rPr lang="en-US" sz="2000" b="1"/>
                        <a:t>Parameter</a:t>
                      </a:r>
                      <a:endParaRPr sz="2000" b="1"/>
                    </a:p>
                  </a:txBody>
                  <a:tcPr marL="91425" marR="91425" marT="91425" marB="91425"/>
                </a:tc>
                <a:tc>
                  <a:txBody>
                    <a:bodyPr/>
                    <a:lstStyle/>
                    <a:p>
                      <a:pPr marL="0" lvl="0" indent="0" algn="l" rtl="0">
                        <a:spcBef>
                          <a:spcPts val="0"/>
                        </a:spcBef>
                        <a:spcAft>
                          <a:spcPts val="0"/>
                        </a:spcAft>
                        <a:buNone/>
                      </a:pPr>
                      <a:r>
                        <a:rPr lang="en-US" sz="2000" b="1"/>
                        <a:t>Measured Value</a:t>
                      </a:r>
                      <a:endParaRPr sz="2000" b="1"/>
                    </a:p>
                  </a:txBody>
                  <a:tcPr marL="91425" marR="91425" marT="91425" marB="91425"/>
                </a:tc>
                <a:extLst>
                  <a:ext uri="{0D108BD9-81ED-4DB2-BD59-A6C34878D82A}">
                    <a16:rowId xmlns:a16="http://schemas.microsoft.com/office/drawing/2014/main" val="10000"/>
                  </a:ext>
                </a:extLst>
              </a:tr>
              <a:tr h="698600">
                <a:tc>
                  <a:txBody>
                    <a:bodyPr/>
                    <a:lstStyle/>
                    <a:p>
                      <a:pPr marL="0" lvl="0" indent="0" algn="l" rtl="0">
                        <a:spcBef>
                          <a:spcPts val="0"/>
                        </a:spcBef>
                        <a:spcAft>
                          <a:spcPts val="0"/>
                        </a:spcAft>
                        <a:buNone/>
                      </a:pPr>
                      <a:r>
                        <a:rPr lang="en-US" sz="2000"/>
                        <a:t>Accuracy</a:t>
                      </a:r>
                      <a:endParaRPr sz="2000"/>
                    </a:p>
                  </a:txBody>
                  <a:tcPr marL="91425" marR="91425" marT="91425" marB="91425"/>
                </a:tc>
                <a:tc>
                  <a:txBody>
                    <a:bodyPr/>
                    <a:lstStyle/>
                    <a:p>
                      <a:pPr marL="0" lvl="0" indent="0" algn="l" rtl="0">
                        <a:spcBef>
                          <a:spcPts val="0"/>
                        </a:spcBef>
                        <a:spcAft>
                          <a:spcPts val="0"/>
                        </a:spcAft>
                        <a:buNone/>
                      </a:pPr>
                      <a:r>
                        <a:rPr lang="en-US" sz="2000"/>
                        <a:t>~85%</a:t>
                      </a:r>
                      <a:endParaRPr sz="2000"/>
                    </a:p>
                  </a:txBody>
                  <a:tcPr marL="91425" marR="91425" marT="91425" marB="91425"/>
                </a:tc>
                <a:extLst>
                  <a:ext uri="{0D108BD9-81ED-4DB2-BD59-A6C34878D82A}">
                    <a16:rowId xmlns:a16="http://schemas.microsoft.com/office/drawing/2014/main" val="10001"/>
                  </a:ext>
                </a:extLst>
              </a:tr>
              <a:tr h="698600">
                <a:tc>
                  <a:txBody>
                    <a:bodyPr/>
                    <a:lstStyle/>
                    <a:p>
                      <a:pPr marL="0" lvl="0" indent="0" algn="l" rtl="0">
                        <a:spcBef>
                          <a:spcPts val="0"/>
                        </a:spcBef>
                        <a:spcAft>
                          <a:spcPts val="0"/>
                        </a:spcAft>
                        <a:buNone/>
                      </a:pPr>
                      <a:r>
                        <a:rPr lang="en-US" sz="2000"/>
                        <a:t>Rendering time(dynamic update)</a:t>
                      </a:r>
                      <a:endParaRPr sz="2000"/>
                    </a:p>
                  </a:txBody>
                  <a:tcPr marL="91425" marR="91425" marT="91425" marB="91425"/>
                </a:tc>
                <a:tc>
                  <a:txBody>
                    <a:bodyPr/>
                    <a:lstStyle/>
                    <a:p>
                      <a:pPr marL="0" lvl="0" indent="0" algn="l" rtl="0">
                        <a:spcBef>
                          <a:spcPts val="0"/>
                        </a:spcBef>
                        <a:spcAft>
                          <a:spcPts val="0"/>
                        </a:spcAft>
                        <a:buNone/>
                      </a:pPr>
                      <a:r>
                        <a:rPr lang="en-US" sz="2000"/>
                        <a:t>&lt;500ms</a:t>
                      </a:r>
                      <a:endParaRPr sz="2000"/>
                    </a:p>
                  </a:txBody>
                  <a:tcPr marL="91425" marR="91425" marT="91425" marB="91425"/>
                </a:tc>
                <a:extLst>
                  <a:ext uri="{0D108BD9-81ED-4DB2-BD59-A6C34878D82A}">
                    <a16:rowId xmlns:a16="http://schemas.microsoft.com/office/drawing/2014/main" val="10002"/>
                  </a:ext>
                </a:extLst>
              </a:tr>
              <a:tr h="698600">
                <a:tc>
                  <a:txBody>
                    <a:bodyPr/>
                    <a:lstStyle/>
                    <a:p>
                      <a:pPr marL="0" lvl="0" indent="0" algn="l" rtl="0">
                        <a:spcBef>
                          <a:spcPts val="0"/>
                        </a:spcBef>
                        <a:spcAft>
                          <a:spcPts val="0"/>
                        </a:spcAft>
                        <a:buNone/>
                      </a:pPr>
                      <a:r>
                        <a:rPr lang="en-US" sz="2000"/>
                        <a:t>Latency </a:t>
                      </a:r>
                      <a:endParaRPr sz="2000"/>
                    </a:p>
                  </a:txBody>
                  <a:tcPr marL="91425" marR="91425" marT="91425" marB="91425"/>
                </a:tc>
                <a:tc>
                  <a:txBody>
                    <a:bodyPr/>
                    <a:lstStyle/>
                    <a:p>
                      <a:pPr marL="0" lvl="0" indent="0" algn="l" rtl="0">
                        <a:spcBef>
                          <a:spcPts val="0"/>
                        </a:spcBef>
                        <a:spcAft>
                          <a:spcPts val="0"/>
                        </a:spcAft>
                        <a:buNone/>
                      </a:pPr>
                      <a:r>
                        <a:rPr lang="en-US" sz="2000"/>
                        <a:t>~20s</a:t>
                      </a:r>
                      <a:endParaRPr sz="2000"/>
                    </a:p>
                  </a:txBody>
                  <a:tcPr marL="91425" marR="91425" marT="91425" marB="91425"/>
                </a:tc>
                <a:extLst>
                  <a:ext uri="{0D108BD9-81ED-4DB2-BD59-A6C34878D82A}">
                    <a16:rowId xmlns:a16="http://schemas.microsoft.com/office/drawing/2014/main" val="10003"/>
                  </a:ext>
                </a:extLst>
              </a:tr>
              <a:tr h="698600">
                <a:tc>
                  <a:txBody>
                    <a:bodyPr/>
                    <a:lstStyle/>
                    <a:p>
                      <a:pPr marL="0" lvl="0" indent="0" algn="l" rtl="0">
                        <a:spcBef>
                          <a:spcPts val="0"/>
                        </a:spcBef>
                        <a:spcAft>
                          <a:spcPts val="0"/>
                        </a:spcAft>
                        <a:buNone/>
                      </a:pPr>
                      <a:r>
                        <a:rPr lang="en-US" sz="2000"/>
                        <a:t>Throughput</a:t>
                      </a:r>
                      <a:endParaRPr sz="2000"/>
                    </a:p>
                  </a:txBody>
                  <a:tcPr marL="91425" marR="91425" marT="91425" marB="91425"/>
                </a:tc>
                <a:tc>
                  <a:txBody>
                    <a:bodyPr/>
                    <a:lstStyle/>
                    <a:p>
                      <a:pPr marL="0" lvl="0" indent="0" algn="l" rtl="0">
                        <a:spcBef>
                          <a:spcPts val="0"/>
                        </a:spcBef>
                        <a:spcAft>
                          <a:spcPts val="0"/>
                        </a:spcAft>
                        <a:buNone/>
                      </a:pPr>
                      <a:r>
                        <a:rPr lang="en-US" sz="2000"/>
                        <a:t>~30 requests/sec</a:t>
                      </a:r>
                      <a:endParaRPr sz="200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body" idx="1"/>
          </p:nvPr>
        </p:nvSpPr>
        <p:spPr>
          <a:xfrm>
            <a:off x="341200" y="846250"/>
            <a:ext cx="8686800" cy="4526100"/>
          </a:xfrm>
          <a:prstGeom prst="rect">
            <a:avLst/>
          </a:prstGeom>
        </p:spPr>
        <p:txBody>
          <a:bodyPr spcFirstLastPara="1" wrap="square" lIns="91425" tIns="45700" rIns="91425" bIns="45700" anchor="t" anchorCtr="0">
            <a:noAutofit/>
          </a:bodyPr>
          <a:lstStyle/>
          <a:p>
            <a:pPr marL="457200" lvl="0" indent="-355600" algn="l" rtl="0">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The CivicSync platform was successfully developed and deployed both locally and online.</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Citizens can easily report incidents by providing details like category, location, description, and image.</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Reported issues are processed in the backend and stored securely in memory or database.</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Duplicate detection ensures that the same incident is not reported multiple times.</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Blockchain integration enables immutable storage of incident hashes for transparency and verification.</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IPFS integration allows decentralized storage of images, ensuring scalability and data reliability.</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The analytics dashboard visualizes category-wise reports, voting trends, and real-time issue statistics.</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The system demonstrated a complete end-to-end workflow — from issue reporting to blockchain-backed validation.</a:t>
            </a:r>
            <a:endParaRPr sz="2000">
              <a:latin typeface="Times New Roman"/>
              <a:ea typeface="Times New Roman"/>
              <a:cs typeface="Times New Roman"/>
              <a:sym typeface="Times New Roman"/>
            </a:endParaRPr>
          </a:p>
        </p:txBody>
      </p:sp>
      <p:sp>
        <p:nvSpPr>
          <p:cNvPr id="137" name="Google Shape;137;p18"/>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13</a:t>
            </a:fld>
            <a:endParaRPr/>
          </a:p>
        </p:txBody>
      </p:sp>
      <p:sp>
        <p:nvSpPr>
          <p:cNvPr id="138" name="Google Shape;138;p18"/>
          <p:cNvSpPr txBox="1"/>
          <p:nvPr/>
        </p:nvSpPr>
        <p:spPr>
          <a:xfrm>
            <a:off x="797500" y="121500"/>
            <a:ext cx="7774200" cy="554100"/>
          </a:xfrm>
          <a:prstGeom prst="rect">
            <a:avLst/>
          </a:prstGeom>
          <a:noFill/>
          <a:ln>
            <a:noFill/>
          </a:ln>
        </p:spPr>
        <p:txBody>
          <a:bodyPr spcFirstLastPara="1" wrap="square" lIns="91425" tIns="91425" rIns="91425" bIns="91425" anchor="t" anchorCtr="0">
            <a:spAutoFit/>
          </a:bodyPr>
          <a:lstStyle/>
          <a:p>
            <a:pPr marL="0" lvl="0" indent="0" algn="ctr" rtl="0">
              <a:lnSpc>
                <a:spcPct val="120000"/>
              </a:lnSpc>
              <a:spcBef>
                <a:spcPts val="0"/>
              </a:spcBef>
              <a:spcAft>
                <a:spcPts val="0"/>
              </a:spcAft>
              <a:buNone/>
            </a:pPr>
            <a:r>
              <a:rPr lang="en-US" sz="2400" b="1">
                <a:solidFill>
                  <a:srgbClr val="FFC000"/>
                </a:solidFill>
                <a:latin typeface="Times New Roman"/>
                <a:ea typeface="Times New Roman"/>
                <a:cs typeface="Times New Roman"/>
                <a:sym typeface="Times New Roman"/>
              </a:rPr>
              <a:t>RESULTS</a:t>
            </a:r>
            <a:endParaRPr sz="2400" b="1">
              <a:solidFill>
                <a:srgbClr val="FFC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body" idx="1"/>
          </p:nvPr>
        </p:nvSpPr>
        <p:spPr>
          <a:xfrm>
            <a:off x="457200" y="715775"/>
            <a:ext cx="8686800" cy="6264000"/>
          </a:xfrm>
          <a:prstGeom prst="rect">
            <a:avLst/>
          </a:prstGeom>
        </p:spPr>
        <p:txBody>
          <a:bodyPr spcFirstLastPara="1" wrap="square" lIns="91425" tIns="45700" rIns="91425" bIns="45700" anchor="t" anchorCtr="0">
            <a:noAutofit/>
          </a:bodyPr>
          <a:lstStyle/>
          <a:p>
            <a:pPr marL="0" lvl="0" indent="0" algn="l" rtl="0">
              <a:spcBef>
                <a:spcPts val="640"/>
              </a:spcBef>
              <a:spcAft>
                <a:spcPts val="0"/>
              </a:spcAft>
              <a:buNone/>
            </a:pPr>
            <a:r>
              <a:rPr lang="en-US" sz="2000" b="1">
                <a:latin typeface="Times New Roman"/>
                <a:ea typeface="Times New Roman"/>
                <a:cs typeface="Times New Roman"/>
                <a:sym typeface="Times New Roman"/>
              </a:rPr>
              <a:t>Conclusion: </a:t>
            </a:r>
            <a:endParaRPr sz="2000" b="1">
              <a:latin typeface="Times New Roman"/>
              <a:ea typeface="Times New Roman"/>
              <a:cs typeface="Times New Roman"/>
              <a:sym typeface="Times New Roman"/>
            </a:endParaRPr>
          </a:p>
          <a:p>
            <a:pPr marL="0" lvl="0" indent="0" algn="l" rtl="0">
              <a:spcBef>
                <a:spcPts val="640"/>
              </a:spcBef>
              <a:spcAft>
                <a:spcPts val="0"/>
              </a:spcAft>
              <a:buClr>
                <a:schemeClr val="dk1"/>
              </a:buClr>
              <a:buSzPts val="1100"/>
              <a:buFont typeface="Arial"/>
              <a:buNone/>
            </a:pPr>
            <a:r>
              <a:rPr lang="en-US" sz="2000">
                <a:latin typeface="Times New Roman"/>
                <a:ea typeface="Times New Roman"/>
                <a:cs typeface="Times New Roman"/>
                <a:sym typeface="Times New Roman"/>
              </a:rPr>
              <a:t>The project achieved its objective of creating a decentralized, citizen-driven civic issue reporting system.</a:t>
            </a:r>
            <a:endParaRPr sz="2000">
              <a:latin typeface="Times New Roman"/>
              <a:ea typeface="Times New Roman"/>
              <a:cs typeface="Times New Roman"/>
              <a:sym typeface="Times New Roman"/>
            </a:endParaRPr>
          </a:p>
          <a:p>
            <a:pPr marL="0" lvl="0" indent="0" algn="l" rtl="0">
              <a:spcBef>
                <a:spcPts val="640"/>
              </a:spcBef>
              <a:spcAft>
                <a:spcPts val="0"/>
              </a:spcAft>
              <a:buClr>
                <a:schemeClr val="dk1"/>
              </a:buClr>
              <a:buSzPts val="1100"/>
              <a:buFont typeface="Arial"/>
              <a:buNone/>
            </a:pPr>
            <a:r>
              <a:rPr lang="en-US" sz="2000">
                <a:latin typeface="Times New Roman"/>
                <a:ea typeface="Times New Roman"/>
                <a:cs typeface="Times New Roman"/>
                <a:sym typeface="Times New Roman"/>
              </a:rPr>
              <a:t>By combining Node.js (backend), React (frontend), Blockchain, and IPFS, the system ensures:</a:t>
            </a:r>
            <a:endParaRPr sz="2000">
              <a:latin typeface="Times New Roman"/>
              <a:ea typeface="Times New Roman"/>
              <a:cs typeface="Times New Roman"/>
              <a:sym typeface="Times New Roman"/>
            </a:endParaRPr>
          </a:p>
          <a:p>
            <a:pPr marL="457200" lvl="0" indent="-355600" algn="l" rtl="0">
              <a:lnSpc>
                <a:spcPct val="115000"/>
              </a:lnSpc>
              <a:spcBef>
                <a:spcPts val="1200"/>
              </a:spcBef>
              <a:spcAft>
                <a:spcPts val="0"/>
              </a:spcAft>
              <a:buSzPts val="2000"/>
              <a:buFont typeface="Times New Roman"/>
              <a:buChar char="•"/>
            </a:pPr>
            <a:r>
              <a:rPr lang="en-US" sz="2000">
                <a:latin typeface="Times New Roman"/>
                <a:ea typeface="Times New Roman"/>
                <a:cs typeface="Times New Roman"/>
                <a:sym typeface="Times New Roman"/>
              </a:rPr>
              <a:t>Transparency in issue management</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Data security and immutability</a:t>
            </a:r>
            <a:endParaRPr sz="2000">
              <a:latin typeface="Times New Roman"/>
              <a:ea typeface="Times New Roman"/>
              <a:cs typeface="Times New Roman"/>
              <a:sym typeface="Times New Roman"/>
            </a:endParaRPr>
          </a:p>
          <a:p>
            <a:pPr marL="457200" lvl="0" indent="-355600" algn="l" rtl="0">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Efficient user interaction and easy accessibility</a:t>
            </a:r>
            <a:endParaRPr sz="20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US" sz="2000">
                <a:latin typeface="Times New Roman"/>
                <a:ea typeface="Times New Roman"/>
                <a:cs typeface="Times New Roman"/>
                <a:sym typeface="Times New Roman"/>
              </a:rPr>
              <a:t>The hybrid approach bridges the gap between citizens and authorities, encouraging participation and accountability. The system forms a foundation for smart city governance, where issues can be reported, verified, and analyzed efficiently.</a:t>
            </a:r>
            <a:endParaRPr sz="2000">
              <a:latin typeface="Times New Roman"/>
              <a:ea typeface="Times New Roman"/>
              <a:cs typeface="Times New Roman"/>
              <a:sym typeface="Times New Roman"/>
            </a:endParaRPr>
          </a:p>
          <a:p>
            <a:pPr marL="457200" lvl="0" indent="0" algn="l" rtl="0">
              <a:spcBef>
                <a:spcPts val="640"/>
              </a:spcBef>
              <a:spcAft>
                <a:spcPts val="0"/>
              </a:spcAft>
              <a:buNone/>
            </a:pPr>
            <a:endParaRPr sz="2000">
              <a:latin typeface="Times New Roman"/>
              <a:ea typeface="Times New Roman"/>
              <a:cs typeface="Times New Roman"/>
              <a:sym typeface="Times New Roman"/>
            </a:endParaRPr>
          </a:p>
        </p:txBody>
      </p:sp>
      <p:sp>
        <p:nvSpPr>
          <p:cNvPr id="145" name="Google Shape;145;p19"/>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14</a:t>
            </a:fld>
            <a:endParaRPr/>
          </a:p>
        </p:txBody>
      </p:sp>
      <p:sp>
        <p:nvSpPr>
          <p:cNvPr id="146" name="Google Shape;146;p19"/>
          <p:cNvSpPr txBox="1"/>
          <p:nvPr/>
        </p:nvSpPr>
        <p:spPr>
          <a:xfrm>
            <a:off x="578975" y="104000"/>
            <a:ext cx="7817700" cy="554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2400" b="1">
                <a:solidFill>
                  <a:srgbClr val="FFC000"/>
                </a:solidFill>
                <a:latin typeface="Times New Roman"/>
                <a:ea typeface="Times New Roman"/>
                <a:cs typeface="Times New Roman"/>
                <a:sym typeface="Times New Roman"/>
              </a:rPr>
              <a:t>CONCLUSION</a:t>
            </a:r>
            <a:r>
              <a:rPr lang="en-US" sz="2400" b="1">
                <a:solidFill>
                  <a:srgbClr val="FFC000"/>
                </a:solidFill>
              </a:rPr>
              <a:t> </a:t>
            </a:r>
            <a:endParaRPr sz="2400" b="1">
              <a:solidFill>
                <a:srgbClr val="FFC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0"/>
          <p:cNvSpPr txBox="1">
            <a:spLocks noGrp="1"/>
          </p:cNvSpPr>
          <p:nvPr>
            <p:ph type="body" idx="1"/>
          </p:nvPr>
        </p:nvSpPr>
        <p:spPr>
          <a:xfrm>
            <a:off x="538200" y="871200"/>
            <a:ext cx="8229600" cy="4526100"/>
          </a:xfrm>
          <a:prstGeom prst="rect">
            <a:avLst/>
          </a:prstGeom>
        </p:spPr>
        <p:txBody>
          <a:bodyPr spcFirstLastPara="1" wrap="square" lIns="91425" tIns="45700" rIns="91425" bIns="45700" anchor="t" anchorCtr="0">
            <a:noAutofit/>
          </a:bodyPr>
          <a:lstStyle/>
          <a:p>
            <a:pPr marL="457200" lvl="0" indent="-355600" algn="just" rtl="0">
              <a:spcBef>
                <a:spcPts val="640"/>
              </a:spcBef>
              <a:spcAft>
                <a:spcPts val="0"/>
              </a:spcAft>
              <a:buSzPts val="2000"/>
              <a:buFont typeface="Times New Roman"/>
              <a:buChar char="•"/>
            </a:pPr>
            <a:r>
              <a:rPr lang="en-US" sz="2000">
                <a:latin typeface="Times New Roman"/>
                <a:ea typeface="Times New Roman"/>
                <a:cs typeface="Times New Roman"/>
                <a:sym typeface="Times New Roman"/>
              </a:rPr>
              <a:t>Predicting Impact of the Incident Happened using Past data and current context using Machine Learning.</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en-US" sz="2000">
                <a:latin typeface="Times New Roman"/>
                <a:ea typeface="Times New Roman"/>
                <a:cs typeface="Times New Roman"/>
                <a:sym typeface="Times New Roman"/>
              </a:rPr>
              <a:t>Developing Easier Mobile application.</a:t>
            </a:r>
            <a:endParaRPr sz="2000">
              <a:latin typeface="Times New Roman"/>
              <a:ea typeface="Times New Roman"/>
              <a:cs typeface="Times New Roman"/>
              <a:sym typeface="Times New Roman"/>
            </a:endParaRPr>
          </a:p>
          <a:p>
            <a:pPr marL="457200" lvl="0" indent="-355600" algn="just" rtl="0">
              <a:spcBef>
                <a:spcPts val="640"/>
              </a:spcBef>
              <a:spcAft>
                <a:spcPts val="0"/>
              </a:spcAft>
              <a:buSzPts val="2000"/>
              <a:buFont typeface="Times New Roman"/>
              <a:buChar char="•"/>
            </a:pPr>
            <a:r>
              <a:rPr lang="en-US" sz="2000">
                <a:latin typeface="Times New Roman"/>
                <a:ea typeface="Times New Roman"/>
                <a:cs typeface="Times New Roman"/>
                <a:sym typeface="Times New Roman"/>
              </a:rPr>
              <a:t>Assigning digital rewards to citizens for filing impactful incidents to encourage citizens to use this platform which will ensure smart city management.</a:t>
            </a: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p>
            <a:pPr marL="457200" lvl="0" indent="0" algn="l" rtl="0">
              <a:spcBef>
                <a:spcPts val="640"/>
              </a:spcBef>
              <a:spcAft>
                <a:spcPts val="0"/>
              </a:spcAft>
              <a:buNone/>
            </a:pPr>
            <a:endParaRPr sz="2000">
              <a:latin typeface="Times New Roman"/>
              <a:ea typeface="Times New Roman"/>
              <a:cs typeface="Times New Roman"/>
              <a:sym typeface="Times New Roman"/>
            </a:endParaRPr>
          </a:p>
          <a:p>
            <a:pPr marL="0" lvl="0" indent="0" algn="l" rtl="0">
              <a:spcBef>
                <a:spcPts val="640"/>
              </a:spcBef>
              <a:spcAft>
                <a:spcPts val="0"/>
              </a:spcAft>
              <a:buNone/>
            </a:pPr>
            <a:endParaRPr sz="2000">
              <a:latin typeface="Times New Roman"/>
              <a:ea typeface="Times New Roman"/>
              <a:cs typeface="Times New Roman"/>
              <a:sym typeface="Times New Roman"/>
            </a:endParaRPr>
          </a:p>
          <a:p>
            <a:pPr marL="0" lvl="0" indent="0" algn="l" rtl="0">
              <a:spcBef>
                <a:spcPts val="640"/>
              </a:spcBef>
              <a:spcAft>
                <a:spcPts val="0"/>
              </a:spcAft>
              <a:buNone/>
            </a:pPr>
            <a:endParaRPr sz="2000">
              <a:latin typeface="Times New Roman"/>
              <a:ea typeface="Times New Roman"/>
              <a:cs typeface="Times New Roman"/>
              <a:sym typeface="Times New Roman"/>
            </a:endParaRPr>
          </a:p>
        </p:txBody>
      </p:sp>
      <p:sp>
        <p:nvSpPr>
          <p:cNvPr id="153" name="Google Shape;153;p20"/>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15</a:t>
            </a:fld>
            <a:endParaRPr/>
          </a:p>
        </p:txBody>
      </p:sp>
      <p:sp>
        <p:nvSpPr>
          <p:cNvPr id="154" name="Google Shape;154;p20"/>
          <p:cNvSpPr txBox="1"/>
          <p:nvPr/>
        </p:nvSpPr>
        <p:spPr>
          <a:xfrm>
            <a:off x="578975" y="104000"/>
            <a:ext cx="7817700" cy="554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2400" b="1">
                <a:solidFill>
                  <a:srgbClr val="FFC000"/>
                </a:solidFill>
                <a:latin typeface="Times New Roman"/>
                <a:ea typeface="Times New Roman"/>
                <a:cs typeface="Times New Roman"/>
                <a:sym typeface="Times New Roman"/>
              </a:rPr>
              <a:t>FUTURE SCOPE</a:t>
            </a:r>
            <a:r>
              <a:rPr lang="en-US" sz="2400" b="1">
                <a:solidFill>
                  <a:srgbClr val="FFC000"/>
                </a:solidFill>
              </a:rPr>
              <a:t> </a:t>
            </a:r>
            <a:endParaRPr sz="2400" b="1">
              <a:solidFill>
                <a:srgbClr val="FFC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sldNum" idx="12"/>
          </p:nvPr>
        </p:nvSpPr>
        <p:spPr>
          <a:xfrm>
            <a:off x="7239000" y="6415088"/>
            <a:ext cx="1905000" cy="3143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16</a:t>
            </a:fld>
            <a:endParaRPr/>
          </a:p>
        </p:txBody>
      </p:sp>
      <p:sp>
        <p:nvSpPr>
          <p:cNvPr id="160" name="Google Shape;160;p21"/>
          <p:cNvSpPr txBox="1"/>
          <p:nvPr/>
        </p:nvSpPr>
        <p:spPr>
          <a:xfrm>
            <a:off x="11025000" y="2437075"/>
            <a:ext cx="6834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61" name="Google Shape;161;p21"/>
          <p:cNvSpPr txBox="1">
            <a:spLocks noGrp="1"/>
          </p:cNvSpPr>
          <p:nvPr>
            <p:ph type="title"/>
          </p:nvPr>
        </p:nvSpPr>
        <p:spPr>
          <a:xfrm>
            <a:off x="457200" y="152400"/>
            <a:ext cx="8229600" cy="533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3200" b="1">
                <a:solidFill>
                  <a:srgbClr val="FFC000"/>
                </a:solidFill>
              </a:rPr>
              <a:t>REFERENCES</a:t>
            </a:r>
            <a:endParaRPr b="1">
              <a:latin typeface="Times New Roman"/>
              <a:ea typeface="Times New Roman"/>
              <a:cs typeface="Times New Roman"/>
              <a:sym typeface="Times New Roman"/>
            </a:endParaRPr>
          </a:p>
        </p:txBody>
      </p:sp>
      <p:sp>
        <p:nvSpPr>
          <p:cNvPr id="162" name="Google Shape;162;p21"/>
          <p:cNvSpPr txBox="1">
            <a:spLocks noGrp="1"/>
          </p:cNvSpPr>
          <p:nvPr>
            <p:ph type="body" idx="1"/>
          </p:nvPr>
        </p:nvSpPr>
        <p:spPr>
          <a:xfrm>
            <a:off x="324725" y="755525"/>
            <a:ext cx="8642700" cy="5973900"/>
          </a:xfrm>
          <a:prstGeom prst="rect">
            <a:avLst/>
          </a:prstGeom>
          <a:noFill/>
          <a:ln>
            <a:noFill/>
          </a:ln>
        </p:spPr>
        <p:txBody>
          <a:bodyPr spcFirstLastPara="1" wrap="square" lIns="91425" tIns="45700" rIns="91425" bIns="45700" anchor="t" anchorCtr="0">
            <a:noAutofit/>
          </a:bodyPr>
          <a:lstStyle/>
          <a:p>
            <a:pPr marL="0" lvl="0" indent="0" algn="just" rtl="0">
              <a:spcBef>
                <a:spcPts val="640"/>
              </a:spcBef>
              <a:spcAft>
                <a:spcPts val="0"/>
              </a:spcAft>
              <a:buNone/>
            </a:pPr>
            <a:r>
              <a:rPr lang="en-US" sz="1800" b="1">
                <a:latin typeface="Times New Roman"/>
                <a:ea typeface="Times New Roman"/>
                <a:cs typeface="Times New Roman"/>
                <a:sym typeface="Times New Roman"/>
              </a:rPr>
              <a:t>1.  M. A. Igartua </a:t>
            </a:r>
            <a:r>
              <a:rPr lang="en-US" sz="1800">
                <a:latin typeface="Times New Roman"/>
                <a:ea typeface="Times New Roman"/>
                <a:cs typeface="Times New Roman"/>
                <a:sym typeface="Times New Roman"/>
              </a:rPr>
              <a:t>et al., "INRISCO: INcident monitoring in Smart Communities," in IEEE Access, vol. 8, pp. 72435-72460, 2020, doi: 10.1109/ACCESS.2020.2987483.</a:t>
            </a:r>
            <a:endParaRPr sz="1800">
              <a:latin typeface="Times New Roman"/>
              <a:ea typeface="Times New Roman"/>
              <a:cs typeface="Times New Roman"/>
              <a:sym typeface="Times New Roman"/>
            </a:endParaRPr>
          </a:p>
          <a:p>
            <a:pPr marL="0" lvl="0" indent="0" algn="just" rtl="0">
              <a:lnSpc>
                <a:spcPct val="120000"/>
              </a:lnSpc>
              <a:spcBef>
                <a:spcPts val="600"/>
              </a:spcBef>
              <a:spcAft>
                <a:spcPts val="0"/>
              </a:spcAft>
              <a:buNone/>
            </a:pPr>
            <a:r>
              <a:rPr lang="en-US" sz="1800" b="1">
                <a:latin typeface="Times New Roman"/>
                <a:ea typeface="Times New Roman"/>
                <a:cs typeface="Times New Roman"/>
                <a:sym typeface="Times New Roman"/>
              </a:rPr>
              <a:t>2.  L. B. Elvas, C. F. Marreiros, J. M. Dinis, M. C. Pereira, A. L. Martins, and J. C. Ferreira,</a:t>
            </a:r>
            <a:r>
              <a:rPr lang="en-US" sz="1800">
                <a:latin typeface="Times New Roman"/>
                <a:ea typeface="Times New Roman"/>
                <a:cs typeface="Times New Roman"/>
                <a:sym typeface="Times New Roman"/>
              </a:rPr>
              <a:t> "Data-Driven Approach for Incident Management in a Smart City," Applied Sciences, vol. 10, no. 22, p. 8281, Nov. 2020, doi: 10.3390/app10228281. </a:t>
            </a:r>
            <a:endParaRPr sz="1800">
              <a:latin typeface="Times New Roman"/>
              <a:ea typeface="Times New Roman"/>
              <a:cs typeface="Times New Roman"/>
              <a:sym typeface="Times New Roman"/>
            </a:endParaRPr>
          </a:p>
          <a:p>
            <a:pPr marL="0" lvl="0" indent="0" algn="just" rtl="0">
              <a:lnSpc>
                <a:spcPct val="120000"/>
              </a:lnSpc>
              <a:spcBef>
                <a:spcPts val="600"/>
              </a:spcBef>
              <a:spcAft>
                <a:spcPts val="0"/>
              </a:spcAft>
              <a:buNone/>
            </a:pPr>
            <a:r>
              <a:rPr lang="en-US" sz="1800" b="1">
                <a:latin typeface="Times New Roman"/>
                <a:ea typeface="Times New Roman"/>
                <a:cs typeface="Times New Roman"/>
                <a:sym typeface="Times New Roman"/>
              </a:rPr>
              <a:t>3.  E. F. Z. Santana, A. P. C. Steinmacher, M. A. Gerosa, F. Kon, and D. Milojicic</a:t>
            </a:r>
            <a:r>
              <a:rPr lang="en-US" sz="1800">
                <a:latin typeface="Times New Roman"/>
                <a:ea typeface="Times New Roman"/>
                <a:cs typeface="Times New Roman"/>
                <a:sym typeface="Times New Roman"/>
              </a:rPr>
              <a:t>, "Software platforms for smart cities: Concepts, requirements, challenges, and a unified reference architecture," ACM Computing Surveys, vol. 50, no. 6, pp. 1-37, Jan. 2018, doi: 10.1145/3124391 </a:t>
            </a:r>
            <a:endParaRPr sz="1800">
              <a:latin typeface="Times New Roman"/>
              <a:ea typeface="Times New Roman"/>
              <a:cs typeface="Times New Roman"/>
              <a:sym typeface="Times New Roman"/>
            </a:endParaRPr>
          </a:p>
          <a:p>
            <a:pPr marL="0" lvl="0" indent="0" algn="just" rtl="0">
              <a:lnSpc>
                <a:spcPct val="120000"/>
              </a:lnSpc>
              <a:spcBef>
                <a:spcPts val="600"/>
              </a:spcBef>
              <a:spcAft>
                <a:spcPts val="0"/>
              </a:spcAft>
              <a:buNone/>
            </a:pPr>
            <a:r>
              <a:rPr lang="en-US" sz="1800" b="1">
                <a:latin typeface="Times New Roman"/>
                <a:ea typeface="Times New Roman"/>
                <a:cs typeface="Times New Roman"/>
                <a:sym typeface="Times New Roman"/>
              </a:rPr>
              <a:t>4.  Diallo, E. H., Abdallah, R., Dib, M., &amp; Dib, O. (2024)</a:t>
            </a:r>
            <a:r>
              <a:rPr lang="en-US" sz="1800">
                <a:latin typeface="Times New Roman"/>
                <a:ea typeface="Times New Roman"/>
                <a:cs typeface="Times New Roman"/>
                <a:sym typeface="Times New Roman"/>
              </a:rPr>
              <a:t>. “Decentralized incident reporting: Mobilizing urban communities with blockchain”. Smart Cities, 7(4), 2283-2317.</a:t>
            </a:r>
            <a:r>
              <a:rPr lang="en-US" sz="1800">
                <a:uFill>
                  <a:noFill/>
                </a:uFill>
                <a:latin typeface="Times New Roman"/>
                <a:ea typeface="Times New Roman"/>
                <a:cs typeface="Times New Roman"/>
                <a:sym typeface="Times New Roman"/>
                <a:hlinkClick r:id="rId3"/>
              </a:rPr>
              <a:t>doi.org/10.3390/smartcities7040090</a:t>
            </a: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marL="0" lvl="0" indent="0" algn="just" rtl="0">
              <a:lnSpc>
                <a:spcPct val="120000"/>
              </a:lnSpc>
              <a:spcBef>
                <a:spcPts val="600"/>
              </a:spcBef>
              <a:spcAft>
                <a:spcPts val="0"/>
              </a:spcAft>
              <a:buNone/>
            </a:pPr>
            <a:r>
              <a:rPr lang="en-US" sz="1800" b="1">
                <a:latin typeface="Times New Roman"/>
                <a:ea typeface="Times New Roman"/>
                <a:cs typeface="Times New Roman"/>
                <a:sym typeface="Times New Roman"/>
              </a:rPr>
              <a:t>5.  S. Kumar, S. Atreja, A. Singh, and M. Jain,</a:t>
            </a:r>
            <a:r>
              <a:rPr lang="en-US" sz="1800">
                <a:latin typeface="Times New Roman"/>
                <a:ea typeface="Times New Roman"/>
                <a:cs typeface="Times New Roman"/>
                <a:sym typeface="Times New Roman"/>
              </a:rPr>
              <a:t> "Adversarial adaptation of scene graph models for understanding civic issues," in Proceedings of the 2019 World Wide Web Conference (WWW '19), San Francisco, CA, USA, pp. 2943-2949, 2019, doi: 10.1145/3308558.3313681.</a:t>
            </a:r>
            <a:endParaRPr sz="1800">
              <a:latin typeface="Times New Roman"/>
              <a:ea typeface="Times New Roman"/>
              <a:cs typeface="Times New Roman"/>
              <a:sym typeface="Times New Roman"/>
            </a:endParaRPr>
          </a:p>
          <a:p>
            <a:pPr marL="0" lvl="0" indent="0" algn="just" rtl="0">
              <a:spcBef>
                <a:spcPts val="0"/>
              </a:spcBef>
              <a:spcAft>
                <a:spcPts val="0"/>
              </a:spcAft>
              <a:buNone/>
            </a:pPr>
            <a:endParaRPr sz="2000" b="1">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2"/>
          <p:cNvSpPr txBox="1">
            <a:spLocks noGrp="1"/>
          </p:cNvSpPr>
          <p:nvPr>
            <p:ph type="sldNum" idx="12"/>
          </p:nvPr>
        </p:nvSpPr>
        <p:spPr>
          <a:xfrm>
            <a:off x="7239000" y="6415088"/>
            <a:ext cx="1905000" cy="314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17</a:t>
            </a:fld>
            <a:endParaRPr/>
          </a:p>
        </p:txBody>
      </p:sp>
      <p:sp>
        <p:nvSpPr>
          <p:cNvPr id="168" name="Google Shape;168;p22"/>
          <p:cNvSpPr txBox="1"/>
          <p:nvPr/>
        </p:nvSpPr>
        <p:spPr>
          <a:xfrm>
            <a:off x="11025000" y="2437075"/>
            <a:ext cx="6834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69" name="Google Shape;169;p22"/>
          <p:cNvSpPr txBox="1">
            <a:spLocks noGrp="1"/>
          </p:cNvSpPr>
          <p:nvPr>
            <p:ph type="title"/>
          </p:nvPr>
        </p:nvSpPr>
        <p:spPr>
          <a:xfrm>
            <a:off x="457200" y="152400"/>
            <a:ext cx="8229600" cy="533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3200" b="1">
                <a:solidFill>
                  <a:srgbClr val="FFC000"/>
                </a:solidFill>
              </a:rPr>
              <a:t>REFERENCES</a:t>
            </a:r>
            <a:endParaRPr b="1">
              <a:latin typeface="Times New Roman"/>
              <a:ea typeface="Times New Roman"/>
              <a:cs typeface="Times New Roman"/>
              <a:sym typeface="Times New Roman"/>
            </a:endParaRPr>
          </a:p>
        </p:txBody>
      </p:sp>
      <p:sp>
        <p:nvSpPr>
          <p:cNvPr id="170" name="Google Shape;170;p22"/>
          <p:cNvSpPr txBox="1">
            <a:spLocks noGrp="1"/>
          </p:cNvSpPr>
          <p:nvPr>
            <p:ph type="body" idx="1"/>
          </p:nvPr>
        </p:nvSpPr>
        <p:spPr>
          <a:xfrm>
            <a:off x="457200" y="798000"/>
            <a:ext cx="8553300" cy="58617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1100"/>
              <a:buFont typeface="Arial"/>
              <a:buNone/>
            </a:pPr>
            <a:r>
              <a:rPr lang="en-US" sz="1800" b="1">
                <a:latin typeface="Times New Roman"/>
                <a:ea typeface="Times New Roman"/>
                <a:cs typeface="Times New Roman"/>
                <a:sym typeface="Times New Roman"/>
              </a:rPr>
              <a:t>6.  J. González-Villa, A. Cuesta, M. Spagnolo, </a:t>
            </a:r>
            <a:r>
              <a:rPr lang="en-US" sz="1800" b="1" i="1">
                <a:latin typeface="Times New Roman"/>
                <a:ea typeface="Times New Roman"/>
                <a:cs typeface="Times New Roman"/>
                <a:sym typeface="Times New Roman"/>
              </a:rPr>
              <a:t>et al.</a:t>
            </a:r>
            <a:r>
              <a:rPr lang="en-US" sz="1800" b="1">
                <a:latin typeface="Times New Roman"/>
                <a:ea typeface="Times New Roman"/>
                <a:cs typeface="Times New Roman"/>
                <a:sym typeface="Times New Roman"/>
              </a:rPr>
              <a:t>,</a:t>
            </a:r>
            <a:r>
              <a:rPr lang="en-US" sz="1800">
                <a:latin typeface="Times New Roman"/>
                <a:ea typeface="Times New Roman"/>
                <a:cs typeface="Times New Roman"/>
                <a:sym typeface="Times New Roman"/>
              </a:rPr>
              <a:t> "Decision-support system for safety and security assessment and management in smart cities," </a:t>
            </a:r>
            <a:r>
              <a:rPr lang="en-US" sz="1800" i="1">
                <a:latin typeface="Times New Roman"/>
                <a:ea typeface="Times New Roman"/>
                <a:cs typeface="Times New Roman"/>
                <a:sym typeface="Times New Roman"/>
              </a:rPr>
              <a:t>Multimedia Tools and Applications</a:t>
            </a:r>
            <a:r>
              <a:rPr lang="en-US" sz="1800">
                <a:latin typeface="Times New Roman"/>
                <a:ea typeface="Times New Roman"/>
                <a:cs typeface="Times New Roman"/>
                <a:sym typeface="Times New Roman"/>
              </a:rPr>
              <a:t>, vol. 83, pp. 61971–61994, 2024,</a:t>
            </a:r>
            <a:r>
              <a:rPr lang="en-US" sz="1800" u="sng">
                <a:latin typeface="Times New Roman"/>
                <a:ea typeface="Times New Roman"/>
                <a:cs typeface="Times New Roman"/>
                <a:sym typeface="Times New Roman"/>
              </a:rPr>
              <a:t> </a:t>
            </a:r>
            <a:r>
              <a:rPr lang="en-US" sz="1800">
                <a:latin typeface="Times New Roman"/>
                <a:ea typeface="Times New Roman"/>
                <a:cs typeface="Times New Roman"/>
                <a:sym typeface="Times New Roman"/>
              </a:rPr>
              <a:t>doi: 10.1007/s11042-023-16020-6.</a:t>
            </a:r>
            <a:endParaRPr sz="2000" b="1">
              <a:solidFill>
                <a:srgbClr val="222222"/>
              </a:solidFill>
              <a:highlight>
                <a:schemeClr val="lt1"/>
              </a:highlight>
              <a:latin typeface="Times New Roman"/>
              <a:ea typeface="Times New Roman"/>
              <a:cs typeface="Times New Roman"/>
              <a:sym typeface="Times New Roman"/>
            </a:endParaRPr>
          </a:p>
          <a:p>
            <a:pPr marL="0" lvl="0" indent="0" algn="just" rtl="0">
              <a:spcBef>
                <a:spcPts val="0"/>
              </a:spcBef>
              <a:spcAft>
                <a:spcPts val="0"/>
              </a:spcAft>
              <a:buNone/>
            </a:pPr>
            <a:endParaRPr sz="1800" b="1">
              <a:latin typeface="Times New Roman"/>
              <a:ea typeface="Times New Roman"/>
              <a:cs typeface="Times New Roman"/>
              <a:sym typeface="Times New Roman"/>
            </a:endParaRPr>
          </a:p>
          <a:p>
            <a:pPr marL="0" lvl="0" indent="0" algn="just" rtl="0">
              <a:spcBef>
                <a:spcPts val="0"/>
              </a:spcBef>
              <a:spcAft>
                <a:spcPts val="0"/>
              </a:spcAft>
              <a:buNone/>
            </a:pPr>
            <a:r>
              <a:rPr lang="en-US" sz="1800" b="1">
                <a:latin typeface="Times New Roman"/>
                <a:ea typeface="Times New Roman"/>
                <a:cs typeface="Times New Roman"/>
                <a:sym typeface="Times New Roman"/>
              </a:rPr>
              <a:t>7.  D. Rodríguez-García, V. García-Díaz, and C. González García, </a:t>
            </a:r>
            <a:r>
              <a:rPr lang="en-US" sz="1800">
                <a:latin typeface="Times New Roman"/>
                <a:ea typeface="Times New Roman"/>
                <a:cs typeface="Times New Roman"/>
                <a:sym typeface="Times New Roman"/>
              </a:rPr>
              <a:t>"CrowDSL: platform for incidents management in a smart city context," </a:t>
            </a:r>
            <a:r>
              <a:rPr lang="en-US" sz="1800" i="1">
                <a:latin typeface="Times New Roman"/>
                <a:ea typeface="Times New Roman"/>
                <a:cs typeface="Times New Roman"/>
                <a:sym typeface="Times New Roman"/>
              </a:rPr>
              <a:t>Big Data and Cognitive Computing</a:t>
            </a:r>
            <a:r>
              <a:rPr lang="en-US" sz="1800">
                <a:latin typeface="Times New Roman"/>
                <a:ea typeface="Times New Roman"/>
                <a:cs typeface="Times New Roman"/>
                <a:sym typeface="Times New Roman"/>
              </a:rPr>
              <a:t>, vol. 5, no. 3, p. 44, 2021, doi: 10.3390/bdcc5030044.</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0" lvl="0" indent="0" algn="just" rtl="0">
              <a:spcBef>
                <a:spcPts val="0"/>
              </a:spcBef>
              <a:spcAft>
                <a:spcPts val="0"/>
              </a:spcAft>
              <a:buNone/>
            </a:pPr>
            <a:r>
              <a:rPr lang="en-US" sz="1800" b="1">
                <a:latin typeface="Times New Roman"/>
                <a:ea typeface="Times New Roman"/>
                <a:cs typeface="Times New Roman"/>
                <a:sym typeface="Times New Roman"/>
              </a:rPr>
              <a:t>8.   F. Shama, A. Aziz, and L. B. M. Deya, </a:t>
            </a:r>
            <a:r>
              <a:rPr lang="en-US" sz="1800">
                <a:latin typeface="Times New Roman"/>
                <a:ea typeface="Times New Roman"/>
                <a:cs typeface="Times New Roman"/>
                <a:sym typeface="Times New Roman"/>
              </a:rPr>
              <a:t>"CitySolution: A complaining task distributive mobile application for smart city corporation using deep learning," </a:t>
            </a:r>
            <a:r>
              <a:rPr lang="en-US" sz="1800" i="1">
                <a:latin typeface="Times New Roman"/>
                <a:ea typeface="Times New Roman"/>
                <a:cs typeface="Times New Roman"/>
                <a:sym typeface="Times New Roman"/>
              </a:rPr>
              <a:t>SoftwareX</a:t>
            </a:r>
            <a:r>
              <a:rPr lang="en-US" sz="1800">
                <a:latin typeface="Times New Roman"/>
                <a:ea typeface="Times New Roman"/>
                <a:cs typeface="Times New Roman"/>
                <a:sym typeface="Times New Roman"/>
              </a:rPr>
              <a:t>, vol. 27, p. 101829, 2024,</a:t>
            </a:r>
            <a:r>
              <a:rPr lang="en-US" sz="1800" u="sng">
                <a:latin typeface="Times New Roman"/>
                <a:ea typeface="Times New Roman"/>
                <a:cs typeface="Times New Roman"/>
                <a:sym typeface="Times New Roman"/>
              </a:rPr>
              <a:t> </a:t>
            </a:r>
            <a:r>
              <a:rPr lang="en-US" sz="1800">
                <a:latin typeface="Times New Roman"/>
                <a:ea typeface="Times New Roman"/>
                <a:cs typeface="Times New Roman"/>
                <a:sym typeface="Times New Roman"/>
              </a:rPr>
              <a:t>doi: 10.1016/j.softx.2024.101829.</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0" lvl="0" indent="0" algn="just" rtl="0">
              <a:spcBef>
                <a:spcPts val="0"/>
              </a:spcBef>
              <a:spcAft>
                <a:spcPts val="0"/>
              </a:spcAft>
              <a:buNone/>
            </a:pPr>
            <a:r>
              <a:rPr lang="en-US" sz="1800" b="1">
                <a:latin typeface="Times New Roman"/>
                <a:ea typeface="Times New Roman"/>
                <a:cs typeface="Times New Roman"/>
                <a:sym typeface="Times New Roman"/>
              </a:rPr>
              <a:t>9.  R. Islam, R. Bose, S. Roy, </a:t>
            </a:r>
            <a:r>
              <a:rPr lang="en-US" sz="1800" b="1" i="1">
                <a:latin typeface="Times New Roman"/>
                <a:ea typeface="Times New Roman"/>
                <a:cs typeface="Times New Roman"/>
                <a:sym typeface="Times New Roman"/>
              </a:rPr>
              <a:t>et al.</a:t>
            </a:r>
            <a:r>
              <a:rPr lang="en-US" sz="1800" b="1">
                <a:latin typeface="Times New Roman"/>
                <a:ea typeface="Times New Roman"/>
                <a:cs typeface="Times New Roman"/>
                <a:sym typeface="Times New Roman"/>
              </a:rPr>
              <a:t>, </a:t>
            </a:r>
            <a:r>
              <a:rPr lang="en-US" sz="1800">
                <a:latin typeface="Times New Roman"/>
                <a:ea typeface="Times New Roman"/>
                <a:cs typeface="Times New Roman"/>
                <a:sym typeface="Times New Roman"/>
              </a:rPr>
              <a:t>"Decentralized trust framework for smart cities: a blockchain-enabled cybersecurity and data integrity model," </a:t>
            </a:r>
            <a:r>
              <a:rPr lang="en-US" sz="1800" i="1">
                <a:latin typeface="Times New Roman"/>
                <a:ea typeface="Times New Roman"/>
                <a:cs typeface="Times New Roman"/>
                <a:sym typeface="Times New Roman"/>
              </a:rPr>
              <a:t>Scientific Reports</a:t>
            </a:r>
            <a:r>
              <a:rPr lang="en-US" sz="1800">
                <a:latin typeface="Times New Roman"/>
                <a:ea typeface="Times New Roman"/>
                <a:cs typeface="Times New Roman"/>
                <a:sym typeface="Times New Roman"/>
              </a:rPr>
              <a:t>, vol. 15, p. 23454, 2025, doi: 10.1038/s41598-025-06405-y.</a:t>
            </a:r>
            <a:br>
              <a:rPr lang="en-US" sz="1800" u="sng">
                <a:latin typeface="Times New Roman"/>
                <a:ea typeface="Times New Roman"/>
                <a:cs typeface="Times New Roman"/>
                <a:sym typeface="Times New Roman"/>
              </a:rPr>
            </a:br>
            <a:endParaRPr sz="1800" u="sng">
              <a:latin typeface="Times New Roman"/>
              <a:ea typeface="Times New Roman"/>
              <a:cs typeface="Times New Roman"/>
              <a:sym typeface="Times New Roman"/>
            </a:endParaRPr>
          </a:p>
          <a:p>
            <a:pPr marL="0" lvl="0" indent="0" algn="just" rtl="0">
              <a:spcBef>
                <a:spcPts val="0"/>
              </a:spcBef>
              <a:spcAft>
                <a:spcPts val="0"/>
              </a:spcAft>
              <a:buNone/>
            </a:pPr>
            <a:r>
              <a:rPr lang="en-US" sz="1800" b="1">
                <a:latin typeface="Times New Roman"/>
                <a:ea typeface="Times New Roman"/>
                <a:cs typeface="Times New Roman"/>
                <a:sym typeface="Times New Roman"/>
              </a:rPr>
              <a:t>10. D. Jung, V. Tran Tuan, D. Quoc Tran, M. Park, and S. Park, </a:t>
            </a:r>
            <a:r>
              <a:rPr lang="en-US" sz="1800">
                <a:latin typeface="Times New Roman"/>
                <a:ea typeface="Times New Roman"/>
                <a:cs typeface="Times New Roman"/>
                <a:sym typeface="Times New Roman"/>
              </a:rPr>
              <a:t>"Conceptual framework of an intelligent decision support system for smart city disaster management," </a:t>
            </a:r>
            <a:r>
              <a:rPr lang="en-US" sz="1800" i="1">
                <a:latin typeface="Times New Roman"/>
                <a:ea typeface="Times New Roman"/>
                <a:cs typeface="Times New Roman"/>
                <a:sym typeface="Times New Roman"/>
              </a:rPr>
              <a:t>Applied Sciences</a:t>
            </a:r>
            <a:r>
              <a:rPr lang="en-US" sz="1800">
                <a:latin typeface="Times New Roman"/>
                <a:ea typeface="Times New Roman"/>
                <a:cs typeface="Times New Roman"/>
                <a:sym typeface="Times New Roman"/>
              </a:rPr>
              <a:t>, vol. 10, no. 2, p. 666, 2020,</a:t>
            </a:r>
            <a:r>
              <a:rPr lang="en-US" sz="1800" u="sng">
                <a:latin typeface="Times New Roman"/>
                <a:ea typeface="Times New Roman"/>
                <a:cs typeface="Times New Roman"/>
                <a:sym typeface="Times New Roman"/>
              </a:rPr>
              <a:t> </a:t>
            </a:r>
            <a:r>
              <a:rPr lang="en-US" sz="1800">
                <a:latin typeface="Times New Roman"/>
                <a:ea typeface="Times New Roman"/>
                <a:cs typeface="Times New Roman"/>
                <a:sym typeface="Times New Roman"/>
              </a:rPr>
              <a:t>doi: 10.3390/app10020666.</a:t>
            </a:r>
            <a:endParaRPr sz="1800">
              <a:latin typeface="Times New Roman"/>
              <a:ea typeface="Times New Roman"/>
              <a:cs typeface="Times New Roman"/>
              <a:sym typeface="Times New Roman"/>
            </a:endParaRPr>
          </a:p>
          <a:p>
            <a:pPr marL="457200" lvl="0" indent="0" algn="just" rtl="0">
              <a:spcBef>
                <a:spcPts val="0"/>
              </a:spcBef>
              <a:spcAft>
                <a:spcPts val="0"/>
              </a:spcAft>
              <a:buNone/>
            </a:pPr>
            <a:endParaRPr sz="1800" u="sng">
              <a:latin typeface="Times New Roman"/>
              <a:ea typeface="Times New Roman"/>
              <a:cs typeface="Times New Roman"/>
              <a:sym typeface="Times New Roman"/>
            </a:endParaRPr>
          </a:p>
          <a:p>
            <a:pPr marL="914400" lvl="0" indent="0" algn="just" rtl="0">
              <a:spcBef>
                <a:spcPts val="0"/>
              </a:spcBef>
              <a:spcAft>
                <a:spcPts val="0"/>
              </a:spcAft>
              <a:buNone/>
            </a:pPr>
            <a:endParaRPr sz="1800">
              <a:solidFill>
                <a:srgbClr val="22222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3"/>
          <p:cNvSpPr txBox="1">
            <a:spLocks noGrp="1"/>
          </p:cNvSpPr>
          <p:nvPr>
            <p:ph type="title"/>
          </p:nvPr>
        </p:nvSpPr>
        <p:spPr>
          <a:xfrm>
            <a:off x="457200" y="2"/>
            <a:ext cx="8229600" cy="6873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Font typeface="Arial"/>
              <a:buNone/>
            </a:pPr>
            <a:r>
              <a:rPr lang="en-US" sz="3200" b="1">
                <a:solidFill>
                  <a:srgbClr val="FFC000"/>
                </a:solidFill>
              </a:rPr>
              <a:t>REFERENCES</a:t>
            </a:r>
            <a:endParaRPr b="1">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a:p>
        </p:txBody>
      </p:sp>
      <p:sp>
        <p:nvSpPr>
          <p:cNvPr id="177" name="Google Shape;177;p23"/>
          <p:cNvSpPr txBox="1">
            <a:spLocks noGrp="1"/>
          </p:cNvSpPr>
          <p:nvPr>
            <p:ph type="body" idx="1"/>
          </p:nvPr>
        </p:nvSpPr>
        <p:spPr>
          <a:xfrm>
            <a:off x="340650" y="687300"/>
            <a:ext cx="8462700" cy="5198400"/>
          </a:xfrm>
          <a:prstGeom prst="rect">
            <a:avLst/>
          </a:prstGeom>
        </p:spPr>
        <p:txBody>
          <a:bodyPr spcFirstLastPara="1" wrap="square" lIns="91425" tIns="45700" rIns="91425" bIns="45700" anchor="t" anchorCtr="0">
            <a:noAutofit/>
          </a:bodyPr>
          <a:lstStyle/>
          <a:p>
            <a:pPr marL="0" lvl="0" indent="0" algn="just" rtl="0">
              <a:lnSpc>
                <a:spcPct val="120000"/>
              </a:lnSpc>
              <a:spcBef>
                <a:spcPts val="600"/>
              </a:spcBef>
              <a:spcAft>
                <a:spcPts val="0"/>
              </a:spcAft>
              <a:buNone/>
            </a:pPr>
            <a:r>
              <a:rPr lang="en-US" sz="1800" b="1">
                <a:latin typeface="Times New Roman"/>
                <a:ea typeface="Times New Roman"/>
                <a:cs typeface="Times New Roman"/>
                <a:sym typeface="Times New Roman"/>
              </a:rPr>
              <a:t>11. E. Nyaletey, R. M. Parizi, Q. Zhang and K. -K. R. Choo, </a:t>
            </a:r>
            <a:r>
              <a:rPr lang="en-US" sz="1800">
                <a:latin typeface="Times New Roman"/>
                <a:ea typeface="Times New Roman"/>
                <a:cs typeface="Times New Roman"/>
                <a:sym typeface="Times New Roman"/>
              </a:rPr>
              <a:t>"BlockIPFS - Blockchain-Enabled Interplanetary File System for Forensic and Trusted Data Traceability," </a:t>
            </a:r>
            <a:r>
              <a:rPr lang="en-US" sz="1800" i="1">
                <a:latin typeface="Times New Roman"/>
                <a:ea typeface="Times New Roman"/>
                <a:cs typeface="Times New Roman"/>
                <a:sym typeface="Times New Roman"/>
              </a:rPr>
              <a:t>2019 IEEE International Conference on Blockchain (Blockchain)</a:t>
            </a:r>
            <a:r>
              <a:rPr lang="en-US" sz="1800">
                <a:latin typeface="Times New Roman"/>
                <a:ea typeface="Times New Roman"/>
                <a:cs typeface="Times New Roman"/>
                <a:sym typeface="Times New Roman"/>
              </a:rPr>
              <a:t>, Atlanta, GA, USA, 2019, pp. 18-25, doi: 10.1109/Blockchain.2019.00012.</a:t>
            </a:r>
            <a:endParaRPr sz="1800" b="1">
              <a:latin typeface="Times New Roman"/>
              <a:ea typeface="Times New Roman"/>
              <a:cs typeface="Times New Roman"/>
              <a:sym typeface="Times New Roman"/>
            </a:endParaRPr>
          </a:p>
          <a:p>
            <a:pPr marL="0" lvl="0" indent="0" algn="just" rtl="0">
              <a:lnSpc>
                <a:spcPct val="120000"/>
              </a:lnSpc>
              <a:spcBef>
                <a:spcPts val="600"/>
              </a:spcBef>
              <a:spcAft>
                <a:spcPts val="0"/>
              </a:spcAft>
              <a:buClr>
                <a:schemeClr val="dk1"/>
              </a:buClr>
              <a:buSzPts val="1100"/>
              <a:buFont typeface="Arial"/>
              <a:buNone/>
            </a:pPr>
            <a:r>
              <a:rPr lang="en-US" sz="1800" b="1">
                <a:latin typeface="Times New Roman"/>
                <a:ea typeface="Times New Roman"/>
                <a:cs typeface="Times New Roman"/>
                <a:sym typeface="Times New Roman"/>
              </a:rPr>
              <a:t>12.  M. Jlil, K. Jouti, J. Boumhidi and C. Loqman, </a:t>
            </a:r>
            <a:r>
              <a:rPr lang="en-US" sz="1800">
                <a:latin typeface="Times New Roman"/>
                <a:ea typeface="Times New Roman"/>
                <a:cs typeface="Times New Roman"/>
                <a:sym typeface="Times New Roman"/>
              </a:rPr>
              <a:t>"Blockchain-Based Mobile Application for Traffic Accident Report's Management," </a:t>
            </a:r>
            <a:r>
              <a:rPr lang="en-US" sz="1800" i="1">
                <a:latin typeface="Times New Roman"/>
                <a:ea typeface="Times New Roman"/>
                <a:cs typeface="Times New Roman"/>
                <a:sym typeface="Times New Roman"/>
              </a:rPr>
              <a:t>2024 4th International Conference on Innovative Research in Applied Science, Engineering and Technology (IRASET)</a:t>
            </a:r>
            <a:r>
              <a:rPr lang="en-US" sz="1800">
                <a:latin typeface="Times New Roman"/>
                <a:ea typeface="Times New Roman"/>
                <a:cs typeface="Times New Roman"/>
                <a:sym typeface="Times New Roman"/>
              </a:rPr>
              <a:t>, FEZ, Morocco, 2024, pp. 1-6, doi: 10.1109/IRASET60544.2024.10548282..</a:t>
            </a:r>
            <a:endParaRPr sz="1800">
              <a:latin typeface="Times New Roman"/>
              <a:ea typeface="Times New Roman"/>
              <a:cs typeface="Times New Roman"/>
              <a:sym typeface="Times New Roman"/>
            </a:endParaRPr>
          </a:p>
          <a:p>
            <a:pPr marL="0" lvl="0" indent="0" algn="just" rtl="0">
              <a:lnSpc>
                <a:spcPct val="120000"/>
              </a:lnSpc>
              <a:spcBef>
                <a:spcPts val="600"/>
              </a:spcBef>
              <a:spcAft>
                <a:spcPts val="0"/>
              </a:spcAft>
              <a:buClr>
                <a:schemeClr val="dk1"/>
              </a:buClr>
              <a:buSzPts val="1100"/>
              <a:buFont typeface="Arial"/>
              <a:buNone/>
            </a:pPr>
            <a:r>
              <a:rPr lang="en-US" sz="1800" b="1">
                <a:latin typeface="Times New Roman"/>
                <a:ea typeface="Times New Roman"/>
                <a:cs typeface="Times New Roman"/>
                <a:sym typeface="Times New Roman"/>
              </a:rPr>
              <a:t>13. D. Cetinkaya, J. González-Villa, M. Zanotti, A. Cuesta, and M. Spagnolo, </a:t>
            </a:r>
            <a:r>
              <a:rPr lang="en-US" sz="1800">
                <a:latin typeface="Times New Roman"/>
                <a:ea typeface="Times New Roman"/>
                <a:cs typeface="Times New Roman"/>
                <a:sym typeface="Times New Roman"/>
              </a:rPr>
              <a:t>“Decentralized Edge-AI Infrastructure for Public Safety in Smart Cities: A Real-Time Response Model,” IEEE Internet of Things Journal, 2024.</a:t>
            </a:r>
            <a:endParaRPr sz="1800">
              <a:latin typeface="Times New Roman"/>
              <a:ea typeface="Times New Roman"/>
              <a:cs typeface="Times New Roman"/>
              <a:sym typeface="Times New Roman"/>
            </a:endParaRPr>
          </a:p>
          <a:p>
            <a:pPr marL="0" lvl="0" indent="0" algn="just" rtl="0">
              <a:lnSpc>
                <a:spcPct val="120000"/>
              </a:lnSpc>
              <a:spcBef>
                <a:spcPts val="600"/>
              </a:spcBef>
              <a:spcAft>
                <a:spcPts val="0"/>
              </a:spcAft>
              <a:buClr>
                <a:schemeClr val="dk1"/>
              </a:buClr>
              <a:buSzPts val="1100"/>
              <a:buFont typeface="Arial"/>
              <a:buNone/>
            </a:pPr>
            <a:r>
              <a:rPr lang="en-US" sz="1800" b="1">
                <a:latin typeface="Times New Roman"/>
                <a:ea typeface="Times New Roman"/>
                <a:cs typeface="Times New Roman"/>
                <a:sym typeface="Times New Roman"/>
              </a:rPr>
              <a:t>14. Sefati, S. S., Craciunescu, R., Arasteh, B., Halunga, S., Fratu, O., &amp; Tal, I. (2024).</a:t>
            </a:r>
            <a:r>
              <a:rPr lang="en-US" sz="1800">
                <a:latin typeface="Times New Roman"/>
                <a:ea typeface="Times New Roman"/>
                <a:cs typeface="Times New Roman"/>
                <a:sym typeface="Times New Roman"/>
              </a:rPr>
              <a:t> “Cybersecurity in a scalable smart city framework using blockchain and federated learning for internet of things (iot)”.Smart Cities, 7(5), 2802-2841.</a:t>
            </a:r>
            <a:r>
              <a:rPr lang="en-US" sz="1800">
                <a:uFill>
                  <a:noFill/>
                </a:uFill>
                <a:latin typeface="Times New Roman"/>
                <a:ea typeface="Times New Roman"/>
                <a:cs typeface="Times New Roman"/>
                <a:sym typeface="Times New Roman"/>
                <a:hlinkClick r:id="rId3"/>
              </a:rPr>
              <a:t>doi.org/10.3390/smartcities7050109</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15. IJung, D., Tuan, V. T., Tran, D. Q., Park, M., &amp; Park, S. (2020). “</a:t>
            </a:r>
            <a:r>
              <a:rPr lang="en-US" sz="1800">
                <a:latin typeface="Times New Roman"/>
                <a:ea typeface="Times New Roman"/>
                <a:cs typeface="Times New Roman"/>
                <a:sym typeface="Times New Roman"/>
              </a:rPr>
              <a:t>Conceptual Framework of an Intelligent Decision Support System for Smart City Disaster Management”. </a:t>
            </a:r>
            <a:r>
              <a:rPr lang="en-US" sz="1800" i="1">
                <a:latin typeface="Times New Roman"/>
                <a:ea typeface="Times New Roman"/>
                <a:cs typeface="Times New Roman"/>
                <a:sym typeface="Times New Roman"/>
              </a:rPr>
              <a:t>Applied Sciences</a:t>
            </a:r>
            <a:r>
              <a:rPr lang="en-US" sz="1800">
                <a:latin typeface="Times New Roman"/>
                <a:ea typeface="Times New Roman"/>
                <a:cs typeface="Times New Roman"/>
                <a:sym typeface="Times New Roman"/>
              </a:rPr>
              <a:t>, </a:t>
            </a:r>
            <a:r>
              <a:rPr lang="en-US" sz="1800" i="1">
                <a:latin typeface="Times New Roman"/>
                <a:ea typeface="Times New Roman"/>
                <a:cs typeface="Times New Roman"/>
                <a:sym typeface="Times New Roman"/>
              </a:rPr>
              <a:t>10</a:t>
            </a:r>
            <a:r>
              <a:rPr lang="en-US" sz="1800">
                <a:latin typeface="Times New Roman"/>
                <a:ea typeface="Times New Roman"/>
                <a:cs typeface="Times New Roman"/>
                <a:sym typeface="Times New Roman"/>
              </a:rPr>
              <a:t>(2), 640. doi: 10.3390/app10020640.</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0" lvl="0" indent="0" algn="l" rtl="0">
              <a:spcBef>
                <a:spcPts val="640"/>
              </a:spcBef>
              <a:spcAft>
                <a:spcPts val="0"/>
              </a:spcAft>
              <a:buNone/>
            </a:pPr>
            <a:endParaRPr/>
          </a:p>
        </p:txBody>
      </p:sp>
      <p:sp>
        <p:nvSpPr>
          <p:cNvPr id="178" name="Google Shape;178;p23"/>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FF0000"/>
              </a:buClr>
              <a:buSzPts val="4400"/>
              <a:buFont typeface="Times New Roman"/>
              <a:buNone/>
            </a:pPr>
            <a:r>
              <a:rPr lang="en-US" sz="4400">
                <a:solidFill>
                  <a:srgbClr val="FF0000"/>
                </a:solidFill>
                <a:latin typeface="Times New Roman"/>
                <a:ea typeface="Times New Roman"/>
                <a:cs typeface="Times New Roman"/>
                <a:sym typeface="Times New Roman"/>
              </a:rPr>
              <a:t>             </a:t>
            </a:r>
            <a:endParaRPr/>
          </a:p>
          <a:p>
            <a:pPr marL="342900" lvl="0" indent="-342900" algn="l" rtl="0">
              <a:spcBef>
                <a:spcPts val="880"/>
              </a:spcBef>
              <a:spcAft>
                <a:spcPts val="0"/>
              </a:spcAft>
              <a:buClr>
                <a:schemeClr val="dk1"/>
              </a:buClr>
              <a:buSzPts val="4400"/>
              <a:buFont typeface="Arial"/>
              <a:buNone/>
            </a:pPr>
            <a:endParaRPr sz="4400">
              <a:solidFill>
                <a:srgbClr val="FF0000"/>
              </a:solidFill>
              <a:latin typeface="Times New Roman"/>
              <a:ea typeface="Times New Roman"/>
              <a:cs typeface="Times New Roman"/>
              <a:sym typeface="Times New Roman"/>
            </a:endParaRPr>
          </a:p>
          <a:p>
            <a:pPr marL="342900" lvl="0" indent="-342900" algn="l" rtl="0">
              <a:spcBef>
                <a:spcPts val="880"/>
              </a:spcBef>
              <a:spcAft>
                <a:spcPts val="0"/>
              </a:spcAft>
              <a:buClr>
                <a:srgbClr val="FF0000"/>
              </a:buClr>
              <a:buSzPts val="4400"/>
              <a:buFont typeface="Times New Roman"/>
              <a:buNone/>
            </a:pPr>
            <a:r>
              <a:rPr lang="en-US" sz="4400">
                <a:solidFill>
                  <a:srgbClr val="FF0000"/>
                </a:solidFill>
                <a:latin typeface="Times New Roman"/>
                <a:ea typeface="Times New Roman"/>
                <a:cs typeface="Times New Roman"/>
                <a:sym typeface="Times New Roman"/>
              </a:rPr>
              <a:t>                 THANK YOU</a:t>
            </a:r>
            <a:endParaRPr/>
          </a:p>
        </p:txBody>
      </p:sp>
      <p:sp>
        <p:nvSpPr>
          <p:cNvPr id="184" name="Google Shape;184;p24"/>
          <p:cNvSpPr txBox="1">
            <a:spLocks noGrp="1"/>
          </p:cNvSpPr>
          <p:nvPr>
            <p:ph type="sldNum" idx="12"/>
          </p:nvPr>
        </p:nvSpPr>
        <p:spPr>
          <a:xfrm>
            <a:off x="7239000" y="6415088"/>
            <a:ext cx="1905000" cy="3143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5"/>
          <p:cNvSpPr txBox="1">
            <a:spLocks noGrp="1"/>
          </p:cNvSpPr>
          <p:nvPr>
            <p:ph type="title"/>
          </p:nvPr>
        </p:nvSpPr>
        <p:spPr>
          <a:xfrm>
            <a:off x="457200" y="129670"/>
            <a:ext cx="8229600" cy="6591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sz="3200" b="1">
                <a:solidFill>
                  <a:srgbClr val="FFC000"/>
                </a:solidFill>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p:txBody>
      </p:sp>
      <p:sp>
        <p:nvSpPr>
          <p:cNvPr id="191" name="Google Shape;191;p25"/>
          <p:cNvSpPr txBox="1">
            <a:spLocks noGrp="1"/>
          </p:cNvSpPr>
          <p:nvPr>
            <p:ph type="body" idx="1"/>
          </p:nvPr>
        </p:nvSpPr>
        <p:spPr>
          <a:xfrm>
            <a:off x="457200" y="881275"/>
            <a:ext cx="8448000" cy="57849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None/>
            </a:pPr>
            <a:r>
              <a:rPr lang="en-US" sz="1800" b="1">
                <a:latin typeface="Times New Roman"/>
                <a:ea typeface="Times New Roman"/>
                <a:cs typeface="Times New Roman"/>
                <a:sym typeface="Times New Roman"/>
              </a:rPr>
              <a:t>Reference 1:</a:t>
            </a:r>
            <a:r>
              <a:rPr lang="en-US" sz="1800">
                <a:latin typeface="Times New Roman"/>
                <a:ea typeface="Times New Roman"/>
                <a:cs typeface="Times New Roman"/>
                <a:sym typeface="Times New Roman"/>
              </a:rPr>
              <a:t> </a:t>
            </a:r>
            <a:r>
              <a:rPr lang="en-US" sz="1800" b="1">
                <a:latin typeface="Times New Roman"/>
                <a:ea typeface="Times New Roman"/>
                <a:cs typeface="Times New Roman"/>
                <a:sym typeface="Times New Roman"/>
              </a:rPr>
              <a:t>M. A. Igartua </a:t>
            </a:r>
            <a:r>
              <a:rPr lang="en-US" sz="1800">
                <a:latin typeface="Times New Roman"/>
                <a:ea typeface="Times New Roman"/>
                <a:cs typeface="Times New Roman"/>
                <a:sym typeface="Times New Roman"/>
              </a:rPr>
              <a:t>et al., "INRISCO: INcident monitoring in Smart Communities," in IEEE Access, vol. 8, pp. 72435-72460, 2020, doi: 10.1109/ACCESS.2020.2987483.</a:t>
            </a:r>
            <a:endParaRPr sz="1800">
              <a:latin typeface="Times New Roman"/>
              <a:ea typeface="Times New Roman"/>
              <a:cs typeface="Times New Roman"/>
              <a:sym typeface="Times New Roman"/>
            </a:endParaRPr>
          </a:p>
          <a:p>
            <a:pPr marL="0" lvl="0" indent="0" algn="just" rtl="0">
              <a:spcBef>
                <a:spcPts val="640"/>
              </a:spcBef>
              <a:spcAft>
                <a:spcPts val="0"/>
              </a:spcAft>
              <a:buNone/>
            </a:pPr>
            <a:endParaRPr sz="1800">
              <a:latin typeface="Times New Roman"/>
              <a:ea typeface="Times New Roman"/>
              <a:cs typeface="Times New Roman"/>
              <a:sym typeface="Times New Roman"/>
            </a:endParaRPr>
          </a:p>
          <a:p>
            <a:pPr marL="457200" lvl="0" indent="-342900" algn="just" rtl="0">
              <a:lnSpc>
                <a:spcPct val="115000"/>
              </a:lnSpc>
              <a:spcBef>
                <a:spcPts val="1200"/>
              </a:spcBef>
              <a:spcAft>
                <a:spcPts val="0"/>
              </a:spcAft>
              <a:buSzPts val="1800"/>
              <a:buFont typeface="Times New Roman"/>
              <a:buChar char="●"/>
            </a:pPr>
            <a:r>
              <a:rPr lang="en-US" sz="1800">
                <a:latin typeface="Times New Roman"/>
                <a:ea typeface="Times New Roman"/>
                <a:cs typeface="Times New Roman"/>
                <a:sym typeface="Times New Roman"/>
              </a:rPr>
              <a:t>The authors leveraged citizen devices, vehicles, and social media as real-time sensors for detecting urban incidents.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The framework followed a three-phase process: detection of anomalies, assessment of severity, and dissemination of alerts.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INRISCO integrated structured data (traffic/vehicular networks) with unstructured data (social media, citizen reports) to improve accuracy.</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They applied big data analytics to fuse information from traffic sensors, vehicular networks, and social media reports for anomaly detection.</a:t>
            </a:r>
            <a:endParaRPr sz="1800">
              <a:latin typeface="Times New Roman"/>
              <a:ea typeface="Times New Roman"/>
              <a:cs typeface="Times New Roman"/>
              <a:sym typeface="Times New Roman"/>
            </a:endParaRPr>
          </a:p>
          <a:p>
            <a:pPr marL="457200" lvl="0" indent="0" algn="just" rtl="0">
              <a:lnSpc>
                <a:spcPct val="115000"/>
              </a:lnSpc>
              <a:spcBef>
                <a:spcPts val="1200"/>
              </a:spcBef>
              <a:spcAft>
                <a:spcPts val="1200"/>
              </a:spcAft>
              <a:buNone/>
            </a:pPr>
            <a:endParaRPr sz="1800">
              <a:latin typeface="Times New Roman"/>
              <a:ea typeface="Times New Roman"/>
              <a:cs typeface="Times New Roman"/>
              <a:sym typeface="Times New Roman"/>
            </a:endParaRPr>
          </a:p>
        </p:txBody>
      </p:sp>
      <p:sp>
        <p:nvSpPr>
          <p:cNvPr id="192" name="Google Shape;192;p25"/>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6"/>
          <p:cNvSpPr txBox="1">
            <a:spLocks noGrp="1"/>
          </p:cNvSpPr>
          <p:nvPr>
            <p:ph type="title"/>
          </p:nvPr>
        </p:nvSpPr>
        <p:spPr>
          <a:xfrm>
            <a:off x="457200" y="129670"/>
            <a:ext cx="8229600" cy="6591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None/>
            </a:pPr>
            <a:r>
              <a:rPr lang="en-US" sz="3200" b="1">
                <a:solidFill>
                  <a:srgbClr val="FFC000"/>
                </a:solidFill>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p:txBody>
      </p:sp>
      <p:sp>
        <p:nvSpPr>
          <p:cNvPr id="199" name="Google Shape;199;p26"/>
          <p:cNvSpPr txBox="1">
            <a:spLocks noGrp="1"/>
          </p:cNvSpPr>
          <p:nvPr>
            <p:ph type="body" idx="1"/>
          </p:nvPr>
        </p:nvSpPr>
        <p:spPr>
          <a:xfrm>
            <a:off x="457200" y="881275"/>
            <a:ext cx="8448000" cy="57849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None/>
            </a:pPr>
            <a:r>
              <a:rPr lang="en-US" sz="2200" b="1">
                <a:latin typeface="Times New Roman"/>
                <a:ea typeface="Times New Roman"/>
                <a:cs typeface="Times New Roman"/>
                <a:sym typeface="Times New Roman"/>
              </a:rPr>
              <a:t>Base Paper: </a:t>
            </a:r>
            <a:endParaRPr sz="22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Farhatun Shama, A. Aziz, and L. B. M. Deya,</a:t>
            </a:r>
            <a:r>
              <a:rPr lang="en-US" sz="1800">
                <a:latin typeface="Times New Roman"/>
                <a:ea typeface="Times New Roman"/>
                <a:cs typeface="Times New Roman"/>
                <a:sym typeface="Times New Roman"/>
              </a:rPr>
              <a:t> “CitySolution: A complaining task distributive mobile application for smart city corporation using deep learning,” SoftwareX, vol. 27, p. 101829, 2024. doi: 10.1016/j.softx.2024.101829.</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just" rtl="0">
              <a:lnSpc>
                <a:spcPct val="150000"/>
              </a:lnSpc>
              <a:spcBef>
                <a:spcPts val="640"/>
              </a:spcBef>
              <a:spcAft>
                <a:spcPts val="0"/>
              </a:spcAft>
              <a:buSzPts val="1800"/>
              <a:buFont typeface="Times New Roman"/>
              <a:buChar char="●"/>
            </a:pPr>
            <a:r>
              <a:rPr lang="en-US" sz="1800">
                <a:latin typeface="Times New Roman"/>
                <a:ea typeface="Times New Roman"/>
                <a:cs typeface="Times New Roman"/>
                <a:sym typeface="Times New Roman"/>
              </a:rPr>
              <a:t>The paper attempts to solve the problem of managing citizen complaints in smart cities with a limited resources.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One application is for citizens to report issues, while the other is for authorities to manage them.</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It uses a deep learning model to automatically categorize complaints based on photos.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This system aims to improve transparency and efficiency in city corporation tasks.</a:t>
            </a:r>
            <a:endParaRPr sz="1800">
              <a:latin typeface="Times New Roman"/>
              <a:ea typeface="Times New Roman"/>
              <a:cs typeface="Times New Roman"/>
              <a:sym typeface="Times New Roman"/>
            </a:endParaRPr>
          </a:p>
          <a:p>
            <a:pPr marL="457200" lvl="0" indent="0" algn="just" rtl="0">
              <a:lnSpc>
                <a:spcPct val="115000"/>
              </a:lnSpc>
              <a:spcBef>
                <a:spcPts val="1200"/>
              </a:spcBef>
              <a:spcAft>
                <a:spcPts val="1200"/>
              </a:spcAft>
              <a:buNone/>
            </a:pPr>
            <a:endParaRPr sz="1800" b="1">
              <a:latin typeface="Times New Roman"/>
              <a:ea typeface="Times New Roman"/>
              <a:cs typeface="Times New Roman"/>
              <a:sym typeface="Times New Roman"/>
            </a:endParaRPr>
          </a:p>
        </p:txBody>
      </p:sp>
      <p:sp>
        <p:nvSpPr>
          <p:cNvPr id="200" name="Google Shape;200;p26"/>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xfrm>
            <a:off x="391150" y="185026"/>
            <a:ext cx="8229600" cy="6660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a:p>
        </p:txBody>
      </p:sp>
      <p:sp>
        <p:nvSpPr>
          <p:cNvPr id="207" name="Google Shape;207;p27"/>
          <p:cNvSpPr txBox="1">
            <a:spLocks noGrp="1"/>
          </p:cNvSpPr>
          <p:nvPr>
            <p:ph type="body" idx="1"/>
          </p:nvPr>
        </p:nvSpPr>
        <p:spPr>
          <a:xfrm>
            <a:off x="391150" y="943500"/>
            <a:ext cx="8530800" cy="53679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None/>
            </a:pPr>
            <a:r>
              <a:rPr lang="en-US" sz="1800" b="1">
                <a:latin typeface="Times New Roman"/>
                <a:ea typeface="Times New Roman"/>
                <a:cs typeface="Times New Roman"/>
                <a:sym typeface="Times New Roman"/>
              </a:rPr>
              <a:t>Reference 2: L. B. Elvas, C. F. Marreiros, J. M. Dinis, M. C. Pereira, A. L. Martins, and J. C. Ferreira,</a:t>
            </a:r>
            <a:r>
              <a:rPr lang="en-US" sz="1800">
                <a:latin typeface="Times New Roman"/>
                <a:ea typeface="Times New Roman"/>
                <a:cs typeface="Times New Roman"/>
                <a:sym typeface="Times New Roman"/>
              </a:rPr>
              <a:t> "Data-Driven Approach for Incident Management in a Smart City," Applied Sciences, vol. 10, no. 22, p. 8281, Nov. 2020, doi: 10.3390/app10228281. </a:t>
            </a:r>
            <a:endParaRPr sz="1800">
              <a:latin typeface="Times New Roman"/>
              <a:ea typeface="Times New Roman"/>
              <a:cs typeface="Times New Roman"/>
              <a:sym typeface="Times New Roman"/>
            </a:endParaRPr>
          </a:p>
          <a:p>
            <a:pPr marL="0" lvl="0" indent="0" algn="just" rtl="0">
              <a:spcBef>
                <a:spcPts val="640"/>
              </a:spcBef>
              <a:spcAft>
                <a:spcPts val="0"/>
              </a:spcAft>
              <a:buNone/>
            </a:pPr>
            <a:endParaRPr sz="1800">
              <a:latin typeface="Times New Roman"/>
              <a:ea typeface="Times New Roman"/>
              <a:cs typeface="Times New Roman"/>
              <a:sym typeface="Times New Roman"/>
            </a:endParaRPr>
          </a:p>
          <a:p>
            <a:pPr marL="457200" lvl="0" indent="-342900" algn="just" rtl="0">
              <a:spcBef>
                <a:spcPts val="640"/>
              </a:spcBef>
              <a:spcAft>
                <a:spcPts val="0"/>
              </a:spcAft>
              <a:buSzPts val="1800"/>
              <a:buFont typeface="Times New Roman"/>
              <a:buChar char="●"/>
            </a:pPr>
            <a:r>
              <a:rPr lang="en-US" sz="1800">
                <a:latin typeface="Times New Roman"/>
                <a:ea typeface="Times New Roman"/>
                <a:cs typeface="Times New Roman"/>
                <a:sym typeface="Times New Roman"/>
              </a:rPr>
              <a:t>The authors analyzed 6,341 incident reports from Lisbon between 2011–2018, including fires, accidents, infrastructure failures, and industrial-technological events.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They used the CRISP-DM methodology to clean, classify, and model incidents, identifying correlations with building age, weather, and population density.</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Data visualization (heatmaps, temporal patterns) highlighted high-risk areas (e.g., downtown Lisbon) and periods (e.g., fires in summer/December).</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Prediction models using Random Forest, KNN, and Logistic Regression achieved about 60–62% accuracy in forecasting incident categories.</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21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600">
              <a:latin typeface="Times New Roman"/>
              <a:ea typeface="Times New Roman"/>
              <a:cs typeface="Times New Roman"/>
              <a:sym typeface="Times New Roman"/>
            </a:endParaRPr>
          </a:p>
          <a:p>
            <a:pPr marL="0" lvl="0" indent="0" algn="just" rtl="0">
              <a:spcBef>
                <a:spcPts val="640"/>
              </a:spcBef>
              <a:spcAft>
                <a:spcPts val="0"/>
              </a:spcAft>
              <a:buNone/>
            </a:pPr>
            <a:endParaRPr sz="1600">
              <a:latin typeface="Times New Roman"/>
              <a:ea typeface="Times New Roman"/>
              <a:cs typeface="Times New Roman"/>
              <a:sym typeface="Times New Roman"/>
            </a:endParaRPr>
          </a:p>
        </p:txBody>
      </p:sp>
      <p:sp>
        <p:nvSpPr>
          <p:cNvPr id="208" name="Google Shape;208;p27"/>
          <p:cNvSpPr txBox="1">
            <a:spLocks noGrp="1"/>
          </p:cNvSpPr>
          <p:nvPr>
            <p:ph type="sldNum" idx="12"/>
          </p:nvPr>
        </p:nvSpPr>
        <p:spPr>
          <a:xfrm>
            <a:off x="7172950" y="6600113"/>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title"/>
          </p:nvPr>
        </p:nvSpPr>
        <p:spPr>
          <a:xfrm>
            <a:off x="457200" y="97777"/>
            <a:ext cx="8229600" cy="7929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endParaRPr>
          </a:p>
          <a:p>
            <a:pPr marL="0" lvl="0" indent="0" algn="ctr" rtl="0">
              <a:spcBef>
                <a:spcPts val="0"/>
              </a:spcBef>
              <a:spcAft>
                <a:spcPts val="0"/>
              </a:spcAft>
              <a:buNone/>
            </a:pPr>
            <a:endParaRPr/>
          </a:p>
        </p:txBody>
      </p:sp>
      <p:sp>
        <p:nvSpPr>
          <p:cNvPr id="215" name="Google Shape;215;p28"/>
          <p:cNvSpPr txBox="1">
            <a:spLocks noGrp="1"/>
          </p:cNvSpPr>
          <p:nvPr>
            <p:ph type="body" idx="1"/>
          </p:nvPr>
        </p:nvSpPr>
        <p:spPr>
          <a:xfrm>
            <a:off x="457200" y="780950"/>
            <a:ext cx="8229600" cy="4526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3: E. F. Z. Santana, A. P. C. Steinmacher, M. A. Gerosa, F. Kon, and D. Milojicic</a:t>
            </a:r>
            <a:r>
              <a:rPr lang="en-US" sz="1800">
                <a:latin typeface="Times New Roman"/>
                <a:ea typeface="Times New Roman"/>
                <a:cs typeface="Times New Roman"/>
                <a:sym typeface="Times New Roman"/>
              </a:rPr>
              <a:t>, "Software platforms for smart cities: Concepts, requirements, challenges, and a unified reference architecture," ACM Computing Surveys, vol. 50, no. 6, pp. 1-37, Jan. 2018, doi: 10.1145/3124391 </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l" rtl="0">
              <a:lnSpc>
                <a:spcPct val="115000"/>
              </a:lnSpc>
              <a:spcBef>
                <a:spcPts val="1200"/>
              </a:spcBef>
              <a:spcAft>
                <a:spcPts val="0"/>
              </a:spcAft>
              <a:buSzPts val="1800"/>
              <a:buFont typeface="Times New Roman"/>
              <a:buChar char="●"/>
            </a:pPr>
            <a:r>
              <a:rPr lang="en-US" sz="1800">
                <a:latin typeface="Times New Roman"/>
                <a:ea typeface="Times New Roman"/>
                <a:cs typeface="Times New Roman"/>
                <a:sym typeface="Times New Roman"/>
              </a:rPr>
              <a:t>The authors developed CitySolution, a mobile application for smart city corporations.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It applied deep learning models to automatically classify citizen complaints.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The system distributed tasks to the appropriate departments for resolution.</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The app aimed to improve efficiency, transparency, and responsiveness in urban governance.</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0" algn="l" rtl="0">
              <a:lnSpc>
                <a:spcPct val="115000"/>
              </a:lnSpc>
              <a:spcBef>
                <a:spcPts val="1200"/>
              </a:spcBef>
              <a:spcAft>
                <a:spcPts val="1200"/>
              </a:spcAft>
              <a:buNone/>
            </a:pPr>
            <a:endParaRPr sz="1800" b="1">
              <a:latin typeface="Times New Roman"/>
              <a:ea typeface="Times New Roman"/>
              <a:cs typeface="Times New Roman"/>
              <a:sym typeface="Times New Roman"/>
            </a:endParaRPr>
          </a:p>
        </p:txBody>
      </p:sp>
      <p:sp>
        <p:nvSpPr>
          <p:cNvPr id="216" name="Google Shape;216;p28"/>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9"/>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4: Diallo, E. H., Abdallah, R., Dib, M., &amp; Dib, O. (2024)</a:t>
            </a:r>
            <a:r>
              <a:rPr lang="en-US" sz="1800">
                <a:latin typeface="Times New Roman"/>
                <a:ea typeface="Times New Roman"/>
                <a:cs typeface="Times New Roman"/>
                <a:sym typeface="Times New Roman"/>
              </a:rPr>
              <a:t>. “Decentralized incident reporting: Mobilizing urban communities with blockchain”. Smart Cities, 7(4), 2283-2317.</a:t>
            </a:r>
            <a:r>
              <a:rPr lang="en-US" sz="1800">
                <a:uFill>
                  <a:noFill/>
                </a:uFill>
                <a:latin typeface="Times New Roman"/>
                <a:ea typeface="Times New Roman"/>
                <a:cs typeface="Times New Roman"/>
                <a:sym typeface="Times New Roman"/>
                <a:hlinkClick r:id="rId3"/>
              </a:rPr>
              <a:t>doi.org/10.3390/smartcities704009</a:t>
            </a:r>
            <a:r>
              <a:rPr lang="en-US" sz="1800">
                <a:uFill>
                  <a:noFill/>
                </a:uFill>
                <a:latin typeface="Times New Roman"/>
                <a:ea typeface="Times New Roman"/>
                <a:cs typeface="Times New Roman"/>
                <a:sym typeface="Times New Roman"/>
                <a:hlinkClick r:id="rId3"/>
              </a:rPr>
              <a:t>0</a:t>
            </a: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marL="0" lvl="0" indent="0" algn="just" rtl="0">
              <a:spcBef>
                <a:spcPts val="640"/>
              </a:spcBef>
              <a:spcAft>
                <a:spcPts val="0"/>
              </a:spcAft>
              <a:buNone/>
            </a:pPr>
            <a:endParaRPr sz="1800" b="1">
              <a:latin typeface="Times New Roman"/>
              <a:ea typeface="Times New Roman"/>
              <a:cs typeface="Times New Roman"/>
              <a:sym typeface="Times New Roman"/>
            </a:endParaRPr>
          </a:p>
          <a:p>
            <a:pPr marL="457200" lvl="0" indent="-342900" algn="l" rtl="0">
              <a:lnSpc>
                <a:spcPct val="100000"/>
              </a:lnSpc>
              <a:spcBef>
                <a:spcPts val="1200"/>
              </a:spcBef>
              <a:spcAft>
                <a:spcPts val="0"/>
              </a:spcAft>
              <a:buSzPts val="1800"/>
              <a:buFont typeface="Times New Roman"/>
              <a:buChar char="●"/>
            </a:pPr>
            <a:r>
              <a:rPr lang="en-US" sz="1800">
                <a:latin typeface="Times New Roman"/>
                <a:ea typeface="Times New Roman"/>
                <a:cs typeface="Times New Roman"/>
                <a:sym typeface="Times New Roman"/>
              </a:rPr>
              <a:t>Develops a citizen-driven blockchain platform for secure and transparent incident reporting.</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Ensures immutability and accountability for incident records.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Encourages public participation in community safety through decentralized trust.</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Faces adoption and usability challenges due to technical complexity.</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Can bridge the gap between citizens, municipalities, and law enforcement by offering trusted reports.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0" algn="just" rtl="0">
              <a:spcBef>
                <a:spcPts val="1200"/>
              </a:spcBef>
              <a:spcAft>
                <a:spcPts val="0"/>
              </a:spcAft>
              <a:buNone/>
            </a:pPr>
            <a:endParaRPr sz="18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p:txBody>
      </p:sp>
      <p:sp>
        <p:nvSpPr>
          <p:cNvPr id="223" name="Google Shape;223;p29"/>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24</a:t>
            </a:fld>
            <a:endParaRPr/>
          </a:p>
        </p:txBody>
      </p:sp>
      <p:sp>
        <p:nvSpPr>
          <p:cNvPr id="224" name="Google Shape;224;p29"/>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endParaRPr>
          </a:p>
          <a:p>
            <a:pPr marL="0" lvl="0" indent="0" algn="ctr" rtl="0">
              <a:spcBef>
                <a:spcPts val="0"/>
              </a:spcBef>
              <a:spcAft>
                <a:spcPts val="0"/>
              </a:spcAft>
              <a:buNone/>
            </a:pPr>
            <a:endParaRPr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0"/>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endParaRPr>
          </a:p>
          <a:p>
            <a:pPr marL="0" lvl="0" indent="0" algn="ctr" rtl="0">
              <a:spcBef>
                <a:spcPts val="0"/>
              </a:spcBef>
              <a:spcAft>
                <a:spcPts val="0"/>
              </a:spcAft>
              <a:buNone/>
            </a:pPr>
            <a:endParaRPr b="1"/>
          </a:p>
        </p:txBody>
      </p:sp>
      <p:sp>
        <p:nvSpPr>
          <p:cNvPr id="231" name="Google Shape;231;p30"/>
          <p:cNvSpPr txBox="1">
            <a:spLocks noGrp="1"/>
          </p:cNvSpPr>
          <p:nvPr>
            <p:ph type="body" idx="1"/>
          </p:nvPr>
        </p:nvSpPr>
        <p:spPr>
          <a:xfrm>
            <a:off x="457200" y="9050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5: S. Kumar, S. Atreja, A. Singh, and M. Jain,</a:t>
            </a:r>
            <a:r>
              <a:rPr lang="en-US" sz="1800">
                <a:latin typeface="Times New Roman"/>
                <a:ea typeface="Times New Roman"/>
                <a:cs typeface="Times New Roman"/>
                <a:sym typeface="Times New Roman"/>
              </a:rPr>
              <a:t> "Adversarial adaptation of scene graph models for understanding civic issues," in Proceedings of the 2019 World Wide Web Conference (WWW '19), San Francisco, CA, USA, pp. 2943-2949, 2019, doi: 10.1145/3308558.3313681.</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a:p>
            <a:pPr marL="457200" lvl="0" indent="-342900" algn="l" rtl="0">
              <a:lnSpc>
                <a:spcPct val="100000"/>
              </a:lnSpc>
              <a:spcBef>
                <a:spcPts val="1200"/>
              </a:spcBef>
              <a:spcAft>
                <a:spcPts val="0"/>
              </a:spcAft>
              <a:buSzPts val="1800"/>
              <a:buFont typeface="Times New Roman"/>
              <a:buChar char="●"/>
            </a:pPr>
            <a:r>
              <a:rPr lang="en-US" sz="1800">
                <a:latin typeface="Times New Roman"/>
                <a:ea typeface="Times New Roman"/>
                <a:cs typeface="Times New Roman"/>
                <a:sym typeface="Times New Roman"/>
              </a:rPr>
              <a:t>The authors developed a complaint classification model using machine learning.</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Blockchain was applied to ensure data security and transparency in reporting.</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The system enabled trustworthy communication between citizens and city authorities.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30200" algn="l" rtl="0">
              <a:lnSpc>
                <a:spcPct val="100000"/>
              </a:lnSpc>
              <a:spcBef>
                <a:spcPts val="0"/>
              </a:spcBef>
              <a:spcAft>
                <a:spcPts val="0"/>
              </a:spcAft>
              <a:buSzPts val="1600"/>
              <a:buChar char="●"/>
            </a:pPr>
            <a:r>
              <a:rPr lang="en-US" sz="1800">
                <a:latin typeface="Times New Roman"/>
                <a:ea typeface="Times New Roman"/>
                <a:cs typeface="Times New Roman"/>
                <a:sym typeface="Times New Roman"/>
              </a:rPr>
              <a:t>The framework addressed fraud prevention and accountability in incident management.</a:t>
            </a:r>
            <a:br>
              <a:rPr lang="en-US" sz="1600"/>
            </a:br>
            <a:endParaRPr sz="1600"/>
          </a:p>
          <a:p>
            <a:pPr marL="457200" lvl="0" indent="0" algn="just" rtl="0">
              <a:spcBef>
                <a:spcPts val="1200"/>
              </a:spcBef>
              <a:spcAft>
                <a:spcPts val="0"/>
              </a:spcAft>
              <a:buNone/>
            </a:pPr>
            <a:endParaRPr sz="2100"/>
          </a:p>
        </p:txBody>
      </p:sp>
      <p:sp>
        <p:nvSpPr>
          <p:cNvPr id="232" name="Google Shape;232;p30"/>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b="1">
              <a:latin typeface="Times New Roman"/>
              <a:ea typeface="Times New Roman"/>
              <a:cs typeface="Times New Roman"/>
              <a:sym typeface="Times New Roman"/>
            </a:endParaRPr>
          </a:p>
        </p:txBody>
      </p:sp>
      <p:sp>
        <p:nvSpPr>
          <p:cNvPr id="239" name="Google Shape;239;p31"/>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600" b="1"/>
          </a:p>
          <a:p>
            <a:pPr marL="0" lvl="0" indent="0" algn="just" rtl="0">
              <a:lnSpc>
                <a:spcPct val="100000"/>
              </a:lnSpc>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6: González-Villa, J., Cuesta, A., Spagnolo, M. </a:t>
            </a:r>
            <a:r>
              <a:rPr lang="en-US" sz="1800" b="1" i="1">
                <a:latin typeface="Times New Roman"/>
                <a:ea typeface="Times New Roman"/>
                <a:cs typeface="Times New Roman"/>
                <a:sym typeface="Times New Roman"/>
              </a:rPr>
              <a:t>et al.</a:t>
            </a:r>
            <a:r>
              <a:rPr lang="en-US" sz="1800" b="1">
                <a:latin typeface="Times New Roman"/>
                <a:ea typeface="Times New Roman"/>
                <a:cs typeface="Times New Roman"/>
                <a:sym typeface="Times New Roman"/>
              </a:rPr>
              <a:t> “</a:t>
            </a:r>
            <a:r>
              <a:rPr lang="en-US" sz="1800">
                <a:latin typeface="Times New Roman"/>
                <a:ea typeface="Times New Roman"/>
                <a:cs typeface="Times New Roman"/>
                <a:sym typeface="Times New Roman"/>
              </a:rPr>
              <a:t>Decision-support system for safety and security assessment and management in smart cities”. </a:t>
            </a:r>
            <a:r>
              <a:rPr lang="en-US" sz="1800" i="1">
                <a:latin typeface="Times New Roman"/>
                <a:ea typeface="Times New Roman"/>
                <a:cs typeface="Times New Roman"/>
                <a:sym typeface="Times New Roman"/>
              </a:rPr>
              <a:t>Multimed Tools Appl</a:t>
            </a:r>
            <a:r>
              <a:rPr lang="en-US" sz="1800">
                <a:latin typeface="Times New Roman"/>
                <a:ea typeface="Times New Roman"/>
                <a:cs typeface="Times New Roman"/>
                <a:sym typeface="Times New Roman"/>
              </a:rPr>
              <a:t> 83, 61971–61994 (2024). doi.org/10.1007/s11042-023-16020-6</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a:p>
            <a:pPr marL="457200" lvl="0" indent="-342900" algn="just" rtl="0">
              <a:lnSpc>
                <a:spcPct val="150000"/>
              </a:lnSpc>
              <a:spcBef>
                <a:spcPts val="640"/>
              </a:spcBef>
              <a:spcAft>
                <a:spcPts val="0"/>
              </a:spcAft>
              <a:buSzPts val="1800"/>
              <a:buFont typeface="Times New Roman"/>
              <a:buChar char="●"/>
            </a:pPr>
            <a:r>
              <a:rPr lang="en-US" sz="1800">
                <a:latin typeface="Times New Roman"/>
                <a:ea typeface="Times New Roman"/>
                <a:cs typeface="Times New Roman"/>
                <a:sym typeface="Times New Roman"/>
              </a:rPr>
              <a:t>Introduces a Decision-Support System (DSS) that integrates threat analysis, evacuation planning, and traffic control.</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Uses data-driven simulations to assess city responses to hazards like fire, smoke, and traffic congestion.</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Achieves low latency (~9.2s) and 100% availability in controlled tests.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Relies heavily on historical data and struggles with real-time fire/smoke detection.</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100"/>
          </a:p>
          <a:p>
            <a:pPr marL="0" lvl="0" indent="0" algn="just" rtl="0">
              <a:spcBef>
                <a:spcPts val="640"/>
              </a:spcBef>
              <a:spcAft>
                <a:spcPts val="0"/>
              </a:spcAft>
              <a:buClr>
                <a:schemeClr val="dk1"/>
              </a:buClr>
              <a:buSzPts val="1100"/>
              <a:buFont typeface="Arial"/>
              <a:buNone/>
            </a:pPr>
            <a:endParaRPr sz="1600"/>
          </a:p>
        </p:txBody>
      </p:sp>
      <p:sp>
        <p:nvSpPr>
          <p:cNvPr id="240" name="Google Shape;240;p31"/>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2"/>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b="1">
              <a:latin typeface="Times New Roman"/>
              <a:ea typeface="Times New Roman"/>
              <a:cs typeface="Times New Roman"/>
              <a:sym typeface="Times New Roman"/>
            </a:endParaRPr>
          </a:p>
        </p:txBody>
      </p:sp>
      <p:sp>
        <p:nvSpPr>
          <p:cNvPr id="247" name="Google Shape;247;p32"/>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600" b="1"/>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7: Rodríguez-García, D., García-Díaz, V., &amp; González García, C. (2021). “</a:t>
            </a:r>
            <a:r>
              <a:rPr lang="en-US" sz="1800">
                <a:latin typeface="Times New Roman"/>
                <a:ea typeface="Times New Roman"/>
                <a:cs typeface="Times New Roman"/>
                <a:sym typeface="Times New Roman"/>
              </a:rPr>
              <a:t>CrowDSL:</a:t>
            </a:r>
            <a:r>
              <a:rPr lang="en-US" sz="1800" b="1">
                <a:latin typeface="Times New Roman"/>
                <a:ea typeface="Times New Roman"/>
                <a:cs typeface="Times New Roman"/>
                <a:sym typeface="Times New Roman"/>
              </a:rPr>
              <a:t> </a:t>
            </a:r>
            <a:r>
              <a:rPr lang="en-US" sz="1800">
                <a:latin typeface="Times New Roman"/>
                <a:ea typeface="Times New Roman"/>
                <a:cs typeface="Times New Roman"/>
                <a:sym typeface="Times New Roman"/>
              </a:rPr>
              <a:t>platform for incidents management in a smart city context”. Big Data and Cognitive Computing, 5(3), 44.</a:t>
            </a:r>
            <a:r>
              <a:rPr lang="en-US" sz="1800">
                <a:uFill>
                  <a:noFill/>
                </a:uFill>
                <a:latin typeface="Times New Roman"/>
                <a:ea typeface="Times New Roman"/>
                <a:cs typeface="Times New Roman"/>
                <a:sym typeface="Times New Roman"/>
                <a:hlinkClick r:id="rId3"/>
              </a:rPr>
              <a:t>doi.org/10.3390/bdcc5030044</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just" rtl="0">
              <a:lnSpc>
                <a:spcPct val="150000"/>
              </a:lnSpc>
              <a:spcBef>
                <a:spcPts val="640"/>
              </a:spcBef>
              <a:spcAft>
                <a:spcPts val="0"/>
              </a:spcAft>
              <a:buSzPts val="1800"/>
              <a:buFont typeface="Times New Roman"/>
              <a:buChar char="●"/>
            </a:pPr>
            <a:r>
              <a:rPr lang="en-US" sz="1800">
                <a:latin typeface="Times New Roman"/>
                <a:ea typeface="Times New Roman"/>
                <a:cs typeface="Times New Roman"/>
                <a:sym typeface="Times New Roman"/>
              </a:rPr>
              <a:t>Proposes CrowDSL, a domain-specific language for incident description and reporting in cities.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Allows customizable categorization of incidents to improve automation and management.</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Provides a platform for authorities to streamline detection, response, and resolution.</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Limited deployment and lacks large-scale case studies across different cities.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Char char="●"/>
            </a:pPr>
            <a:r>
              <a:rPr lang="en-US" sz="1800">
                <a:latin typeface="Times New Roman"/>
                <a:ea typeface="Times New Roman"/>
                <a:cs typeface="Times New Roman"/>
                <a:sym typeface="Times New Roman"/>
              </a:rPr>
              <a:t>Shows potential for real-time interoperability between emergency service</a:t>
            </a:r>
            <a:r>
              <a:rPr lang="en-US" sz="1800"/>
              <a:t>s.</a:t>
            </a:r>
            <a:endParaRPr sz="1800"/>
          </a:p>
          <a:p>
            <a:pPr marL="0" lvl="0" indent="0" algn="just" rtl="0">
              <a:spcBef>
                <a:spcPts val="640"/>
              </a:spcBef>
              <a:spcAft>
                <a:spcPts val="0"/>
              </a:spcAft>
              <a:buNone/>
            </a:pPr>
            <a:endParaRPr sz="1600"/>
          </a:p>
        </p:txBody>
      </p:sp>
      <p:sp>
        <p:nvSpPr>
          <p:cNvPr id="248" name="Google Shape;248;p32"/>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3"/>
          <p:cNvSpPr txBox="1">
            <a:spLocks noGrp="1"/>
          </p:cNvSpPr>
          <p:nvPr>
            <p:ph type="body" idx="1"/>
          </p:nvPr>
        </p:nvSpPr>
        <p:spPr>
          <a:xfrm>
            <a:off x="457200" y="904500"/>
            <a:ext cx="8493300" cy="52218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8: Farhatun Shama, A. Aziz, and L. B. M. Deya,</a:t>
            </a:r>
            <a:r>
              <a:rPr lang="en-US" sz="1800">
                <a:latin typeface="Times New Roman"/>
                <a:ea typeface="Times New Roman"/>
                <a:cs typeface="Times New Roman"/>
                <a:sym typeface="Times New Roman"/>
              </a:rPr>
              <a:t> “CitySolution: A complaining task distributive mobile application for smart city corporation using deep learning,” SoftwareX, vol. 27, p. 101829, 2024. doi: 10.1016/j.softx.2024.101829.</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just" rtl="0">
              <a:lnSpc>
                <a:spcPct val="150000"/>
              </a:lnSpc>
              <a:spcBef>
                <a:spcPts val="640"/>
              </a:spcBef>
              <a:spcAft>
                <a:spcPts val="0"/>
              </a:spcAft>
              <a:buSzPts val="1800"/>
              <a:buFont typeface="Times New Roman"/>
              <a:buChar char="●"/>
            </a:pPr>
            <a:r>
              <a:rPr lang="en-US" sz="1800">
                <a:latin typeface="Times New Roman"/>
                <a:ea typeface="Times New Roman"/>
                <a:cs typeface="Times New Roman"/>
                <a:sym typeface="Times New Roman"/>
              </a:rPr>
              <a:t>The paper introduces two Android apps to solve the problem of managing citizen complaints in smart cities.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One app is for citizens to report issues, while the other is for authorities to manage them.</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It uses a deep learning model to automatically categorize complaints based on photos.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This system aims to improve transparency and efficiency in city corporation tasks.</a:t>
            </a:r>
            <a:endParaRPr sz="1800">
              <a:latin typeface="Times New Roman"/>
              <a:ea typeface="Times New Roman"/>
              <a:cs typeface="Times New Roman"/>
              <a:sym typeface="Times New Roman"/>
            </a:endParaRPr>
          </a:p>
          <a:p>
            <a:pPr marL="457200" lvl="0" indent="0" algn="just" rtl="0">
              <a:lnSpc>
                <a:spcPct val="115000"/>
              </a:lnSpc>
              <a:spcBef>
                <a:spcPts val="640"/>
              </a:spcBef>
              <a:spcAft>
                <a:spcPts val="0"/>
              </a:spcAft>
              <a:buNone/>
            </a:pPr>
            <a:endParaRPr sz="1600"/>
          </a:p>
          <a:p>
            <a:pPr marL="0" lvl="0" indent="0" algn="l" rtl="0">
              <a:spcBef>
                <a:spcPts val="640"/>
              </a:spcBef>
              <a:spcAft>
                <a:spcPts val="0"/>
              </a:spcAft>
              <a:buNone/>
            </a:pPr>
            <a:endParaRPr/>
          </a:p>
        </p:txBody>
      </p:sp>
      <p:sp>
        <p:nvSpPr>
          <p:cNvPr id="255" name="Google Shape;255;p33"/>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28</a:t>
            </a:fld>
            <a:endParaRPr/>
          </a:p>
        </p:txBody>
      </p:sp>
      <p:sp>
        <p:nvSpPr>
          <p:cNvPr id="256" name="Google Shape;256;p33"/>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rPr>
              <a:t>LITERATURE SURVEY</a:t>
            </a:r>
            <a:endParaRPr>
              <a:solidFill>
                <a:schemeClr val="dk1"/>
              </a:solidFill>
            </a:endParaRPr>
          </a:p>
          <a:p>
            <a:pPr marL="0" lvl="0" indent="0" algn="ctr" rtl="0">
              <a:spcBef>
                <a:spcPts val="0"/>
              </a:spcBef>
              <a:spcAft>
                <a:spcPts val="0"/>
              </a:spcAft>
              <a:buClr>
                <a:schemeClr val="dk1"/>
              </a:buClr>
              <a:buSzPts val="1100"/>
              <a:buFont typeface="Arial"/>
              <a:buNone/>
            </a:pPr>
            <a:endParaRPr>
              <a:solidFill>
                <a:schemeClr val="dk1"/>
              </a:solidFill>
            </a:endParaRPr>
          </a:p>
          <a:p>
            <a:pPr marL="0" lvl="0" indent="0" algn="ctr" rtl="0">
              <a:spcBef>
                <a:spcPts val="0"/>
              </a:spcBef>
              <a:spcAft>
                <a:spcPts val="0"/>
              </a:spcAft>
              <a:buNone/>
            </a:pPr>
            <a:endParaRPr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4"/>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b="1">
              <a:latin typeface="Times New Roman"/>
              <a:ea typeface="Times New Roman"/>
              <a:cs typeface="Times New Roman"/>
              <a:sym typeface="Times New Roman"/>
            </a:endParaRPr>
          </a:p>
        </p:txBody>
      </p:sp>
      <p:sp>
        <p:nvSpPr>
          <p:cNvPr id="263" name="Google Shape;263;p34"/>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600" b="1"/>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9: Islam, R., Bose, R., Roy, S. </a:t>
            </a:r>
            <a:r>
              <a:rPr lang="en-US" sz="1800" b="1" i="1">
                <a:latin typeface="Times New Roman"/>
                <a:ea typeface="Times New Roman"/>
                <a:cs typeface="Times New Roman"/>
                <a:sym typeface="Times New Roman"/>
              </a:rPr>
              <a:t>et al.</a:t>
            </a:r>
            <a:r>
              <a:rPr lang="en-US" sz="1800" b="1">
                <a:latin typeface="Times New Roman"/>
                <a:ea typeface="Times New Roman"/>
                <a:cs typeface="Times New Roman"/>
                <a:sym typeface="Times New Roman"/>
              </a:rPr>
              <a:t> “</a:t>
            </a:r>
            <a:r>
              <a:rPr lang="en-US" sz="1800">
                <a:latin typeface="Times New Roman"/>
                <a:ea typeface="Times New Roman"/>
                <a:cs typeface="Times New Roman"/>
                <a:sym typeface="Times New Roman"/>
              </a:rPr>
              <a:t>Decentralized trust framework for smart cities: a blockchain-enabled cybersecurity and data integrity model”. </a:t>
            </a:r>
            <a:r>
              <a:rPr lang="en-US" sz="1800" i="1">
                <a:latin typeface="Times New Roman"/>
                <a:ea typeface="Times New Roman"/>
                <a:cs typeface="Times New Roman"/>
                <a:sym typeface="Times New Roman"/>
              </a:rPr>
              <a:t>Sci Rep</a:t>
            </a:r>
            <a:r>
              <a:rPr lang="en-US" sz="1800">
                <a:latin typeface="Times New Roman"/>
                <a:ea typeface="Times New Roman"/>
                <a:cs typeface="Times New Roman"/>
                <a:sym typeface="Times New Roman"/>
              </a:rPr>
              <a:t> 15, 23454 (2025). doi.org/10.1038/s41598-025-06405-y</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just" rtl="0">
              <a:lnSpc>
                <a:spcPct val="100000"/>
              </a:lnSpc>
              <a:spcBef>
                <a:spcPts val="640"/>
              </a:spcBef>
              <a:spcAft>
                <a:spcPts val="0"/>
              </a:spcAft>
              <a:buSzPts val="1800"/>
              <a:buFont typeface="Times New Roman"/>
              <a:buChar char="●"/>
            </a:pPr>
            <a:r>
              <a:rPr lang="en-US" sz="1800">
                <a:latin typeface="Times New Roman"/>
                <a:ea typeface="Times New Roman"/>
                <a:cs typeface="Times New Roman"/>
                <a:sym typeface="Times New Roman"/>
              </a:rPr>
              <a:t>Introduces a multi-layer trust model with blockchain, AI anomaly detection, and LA-PoS consensus.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Enhances cybersecurity, scalability, and tamper-proof data validation in urban IoT networks.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Demonstrates 98.2% threat detection rate, 3× throughput increase, and 30% reduced latency.</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lnSpc>
                <a:spcPct val="10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Lays groundwork for resilient and sustainable smart city ecosystems with secure services like traffic, energy, and public safety.</a:t>
            </a:r>
            <a:endParaRPr sz="1800">
              <a:latin typeface="Times New Roman"/>
              <a:ea typeface="Times New Roman"/>
              <a:cs typeface="Times New Roman"/>
              <a:sym typeface="Times New Roman"/>
            </a:endParaRPr>
          </a:p>
          <a:p>
            <a:pPr marL="0" lvl="0" indent="0" algn="just" rtl="0">
              <a:lnSpc>
                <a:spcPct val="115000"/>
              </a:lnSpc>
              <a:spcBef>
                <a:spcPts val="640"/>
              </a:spcBef>
              <a:spcAft>
                <a:spcPts val="0"/>
              </a:spcAft>
              <a:buNone/>
            </a:pPr>
            <a:endParaRPr sz="1600"/>
          </a:p>
        </p:txBody>
      </p:sp>
      <p:sp>
        <p:nvSpPr>
          <p:cNvPr id="264" name="Google Shape;264;p34"/>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5"/>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rPr>
              <a:t>LITERATURE SURVEY</a:t>
            </a:r>
            <a:endParaRPr>
              <a:solidFill>
                <a:schemeClr val="dk1"/>
              </a:solidFill>
            </a:endParaRPr>
          </a:p>
          <a:p>
            <a:pPr marL="0" lvl="0" indent="0" algn="ctr" rtl="0">
              <a:spcBef>
                <a:spcPts val="0"/>
              </a:spcBef>
              <a:spcAft>
                <a:spcPts val="0"/>
              </a:spcAft>
              <a:buClr>
                <a:schemeClr val="dk1"/>
              </a:buClr>
              <a:buSzPts val="1100"/>
              <a:buFont typeface="Arial"/>
              <a:buNone/>
            </a:pPr>
            <a:endParaRPr>
              <a:solidFill>
                <a:schemeClr val="dk1"/>
              </a:solidFill>
            </a:endParaRPr>
          </a:p>
          <a:p>
            <a:pPr marL="0" lvl="0" indent="0" algn="ctr" rtl="0">
              <a:spcBef>
                <a:spcPts val="0"/>
              </a:spcBef>
              <a:spcAft>
                <a:spcPts val="0"/>
              </a:spcAft>
              <a:buNone/>
            </a:pPr>
            <a:endParaRPr b="1"/>
          </a:p>
        </p:txBody>
      </p:sp>
      <p:sp>
        <p:nvSpPr>
          <p:cNvPr id="271" name="Google Shape;271;p35"/>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10: Jung, D., Tran Tuan, V., Quoc Tran, D., Park, M., &amp; Park, S. (2020)</a:t>
            </a:r>
            <a:r>
              <a:rPr lang="en-US" sz="1800">
                <a:latin typeface="Times New Roman"/>
                <a:ea typeface="Times New Roman"/>
                <a:cs typeface="Times New Roman"/>
                <a:sym typeface="Times New Roman"/>
              </a:rPr>
              <a:t>. “Conceptual framework of an intelligent decision support system for smart city disaster management”. Applied Sciences, 10(2), 666.</a:t>
            </a:r>
            <a:r>
              <a:rPr lang="en-US" sz="1800">
                <a:uFill>
                  <a:noFill/>
                </a:uFill>
                <a:latin typeface="Times New Roman"/>
                <a:ea typeface="Times New Roman"/>
                <a:cs typeface="Times New Roman"/>
                <a:sym typeface="Times New Roman"/>
                <a:hlinkClick r:id="rId3"/>
              </a:rPr>
              <a:t>doi.org/10.3390/app10020666</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just" rtl="0">
              <a:spcBef>
                <a:spcPts val="640"/>
              </a:spcBef>
              <a:spcAft>
                <a:spcPts val="0"/>
              </a:spcAft>
              <a:buSzPts val="1800"/>
              <a:buFont typeface="Times New Roman"/>
              <a:buChar char="●"/>
            </a:pPr>
            <a:r>
              <a:rPr lang="en-US" sz="1800">
                <a:latin typeface="Times New Roman"/>
                <a:ea typeface="Times New Roman"/>
                <a:cs typeface="Times New Roman"/>
                <a:sym typeface="Times New Roman"/>
              </a:rPr>
              <a:t>Proposes an Intelligent DSS (IDSS) using AI and big data for disaster management.</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Supports rapid decision-making during emergencies (earthquakes, floods, fires, etc.).</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Identifies gaps in data standardization and interoperability across disaster systems.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Lacks integration of historical data and advanced AI models for predictive disaster response.</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Contributes a conceptual base for intelligent, adaptive disaster response systems in urban environments.</a:t>
            </a:r>
            <a:endParaRPr sz="1800">
              <a:latin typeface="Times New Roman"/>
              <a:ea typeface="Times New Roman"/>
              <a:cs typeface="Times New Roman"/>
              <a:sym typeface="Times New Roman"/>
            </a:endParaRPr>
          </a:p>
          <a:p>
            <a:pPr marL="0" lvl="0" indent="0" algn="just" rtl="0">
              <a:spcBef>
                <a:spcPts val="640"/>
              </a:spcBef>
              <a:spcAft>
                <a:spcPts val="0"/>
              </a:spcAft>
              <a:buNone/>
            </a:pPr>
            <a:endParaRPr sz="1600"/>
          </a:p>
        </p:txBody>
      </p:sp>
      <p:sp>
        <p:nvSpPr>
          <p:cNvPr id="272" name="Google Shape;272;p35"/>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6"/>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b="1">
              <a:latin typeface="Times New Roman"/>
              <a:ea typeface="Times New Roman"/>
              <a:cs typeface="Times New Roman"/>
              <a:sym typeface="Times New Roman"/>
            </a:endParaRPr>
          </a:p>
        </p:txBody>
      </p:sp>
      <p:sp>
        <p:nvSpPr>
          <p:cNvPr id="279" name="Google Shape;279;p36"/>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11: E. Nyaletey, R. M. Parizi, Q. Zhang and K. -K. R. Choo, </a:t>
            </a:r>
            <a:r>
              <a:rPr lang="en-US" sz="1800">
                <a:latin typeface="Times New Roman"/>
                <a:ea typeface="Times New Roman"/>
                <a:cs typeface="Times New Roman"/>
                <a:sym typeface="Times New Roman"/>
              </a:rPr>
              <a:t>"BlockIPFS - Blockchain-Enabled Interplanetary File System for Forensic and Trusted Data Traceability," </a:t>
            </a:r>
            <a:r>
              <a:rPr lang="en-US" sz="1800" i="1">
                <a:latin typeface="Times New Roman"/>
                <a:ea typeface="Times New Roman"/>
                <a:cs typeface="Times New Roman"/>
                <a:sym typeface="Times New Roman"/>
              </a:rPr>
              <a:t>2019 IEEE International Conference on Blockchain (Blockchain)</a:t>
            </a:r>
            <a:r>
              <a:rPr lang="en-US" sz="1800">
                <a:latin typeface="Times New Roman"/>
                <a:ea typeface="Times New Roman"/>
                <a:cs typeface="Times New Roman"/>
                <a:sym typeface="Times New Roman"/>
              </a:rPr>
              <a:t>, Atlanta, GA, USA, 2019, pp. 18-25, doi: 10.1109/Blockchain.2019.00012.</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l" rtl="0">
              <a:lnSpc>
                <a:spcPct val="115000"/>
              </a:lnSpc>
              <a:spcBef>
                <a:spcPts val="1200"/>
              </a:spcBef>
              <a:spcAft>
                <a:spcPts val="0"/>
              </a:spcAft>
              <a:buSzPts val="1800"/>
              <a:buFont typeface="Times New Roman"/>
              <a:buChar char="●"/>
            </a:pPr>
            <a:r>
              <a:rPr lang="en-US" sz="1800">
                <a:latin typeface="Times New Roman"/>
                <a:ea typeface="Times New Roman"/>
                <a:cs typeface="Times New Roman"/>
                <a:sym typeface="Times New Roman"/>
              </a:rPr>
              <a:t>Combines IPFS with Hyperledger Fabric blockchain for secure file sharing.</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Logs metadata and file access events on the blockchain for accountability.</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Provides authorship protection, forensic tracking, and audit trails.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Has performance overhead and risk of file hash leakage outside private networks.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Demonstrates a minimal ledger storage overhead (~119 bytes per entry) with scalable performance.</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0" algn="just" rtl="0">
              <a:spcBef>
                <a:spcPts val="1200"/>
              </a:spcBef>
              <a:spcAft>
                <a:spcPts val="0"/>
              </a:spcAft>
              <a:buNone/>
            </a:pPr>
            <a:endParaRPr sz="1800">
              <a:latin typeface="Times New Roman"/>
              <a:ea typeface="Times New Roman"/>
              <a:cs typeface="Times New Roman"/>
              <a:sym typeface="Times New Roman"/>
            </a:endParaRPr>
          </a:p>
        </p:txBody>
      </p:sp>
      <p:sp>
        <p:nvSpPr>
          <p:cNvPr id="280" name="Google Shape;280;p36"/>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7"/>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rPr>
              <a:t>LITERATURE SURVEY</a:t>
            </a:r>
            <a:endParaRPr>
              <a:solidFill>
                <a:schemeClr val="dk1"/>
              </a:solidFill>
            </a:endParaRPr>
          </a:p>
          <a:p>
            <a:pPr marL="0" lvl="0" indent="0" algn="ctr" rtl="0">
              <a:spcBef>
                <a:spcPts val="0"/>
              </a:spcBef>
              <a:spcAft>
                <a:spcPts val="0"/>
              </a:spcAft>
              <a:buClr>
                <a:schemeClr val="dk1"/>
              </a:buClr>
              <a:buSzPts val="1100"/>
              <a:buFont typeface="Arial"/>
              <a:buNone/>
            </a:pPr>
            <a:endParaRPr>
              <a:solidFill>
                <a:schemeClr val="dk1"/>
              </a:solidFill>
            </a:endParaRPr>
          </a:p>
          <a:p>
            <a:pPr marL="0" lvl="0" indent="0" algn="ctr" rtl="0">
              <a:spcBef>
                <a:spcPts val="0"/>
              </a:spcBef>
              <a:spcAft>
                <a:spcPts val="0"/>
              </a:spcAft>
              <a:buNone/>
            </a:pPr>
            <a:endParaRPr b="1"/>
          </a:p>
        </p:txBody>
      </p:sp>
      <p:sp>
        <p:nvSpPr>
          <p:cNvPr id="287" name="Google Shape;287;p37"/>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600" b="1"/>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12: M. Jlil, K. Jouti, J. Boumhidi and C. Loqman, </a:t>
            </a:r>
            <a:r>
              <a:rPr lang="en-US" sz="1800">
                <a:latin typeface="Times New Roman"/>
                <a:ea typeface="Times New Roman"/>
                <a:cs typeface="Times New Roman"/>
                <a:sym typeface="Times New Roman"/>
              </a:rPr>
              <a:t>"Blockchain-Based Mobile Application for Traffic Accident Report's Management," </a:t>
            </a:r>
            <a:r>
              <a:rPr lang="en-US" sz="1800" i="1">
                <a:latin typeface="Times New Roman"/>
                <a:ea typeface="Times New Roman"/>
                <a:cs typeface="Times New Roman"/>
                <a:sym typeface="Times New Roman"/>
              </a:rPr>
              <a:t>2024 4th International Conference on Innovative Research in Applied Science, Engineering and Technology (IRASET)</a:t>
            </a:r>
            <a:r>
              <a:rPr lang="en-US" sz="1800">
                <a:latin typeface="Times New Roman"/>
                <a:ea typeface="Times New Roman"/>
                <a:cs typeface="Times New Roman"/>
                <a:sym typeface="Times New Roman"/>
              </a:rPr>
              <a:t>, FEZ, Morocco, 2024, pp. 1-6, doi: 10.1109/IRASET60544.2024.10548282..</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l" rtl="0">
              <a:lnSpc>
                <a:spcPct val="115000"/>
              </a:lnSpc>
              <a:spcBef>
                <a:spcPts val="1200"/>
              </a:spcBef>
              <a:spcAft>
                <a:spcPts val="0"/>
              </a:spcAft>
              <a:buSzPts val="1800"/>
              <a:buFont typeface="Times New Roman"/>
              <a:buChar char="●"/>
            </a:pPr>
            <a:r>
              <a:rPr lang="en-US" sz="1800">
                <a:latin typeface="Times New Roman"/>
                <a:ea typeface="Times New Roman"/>
                <a:cs typeface="Times New Roman"/>
                <a:sym typeface="Times New Roman"/>
              </a:rPr>
              <a:t>Develops a mobile app integrated with blockchain for accident reporting.</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Stores reports in a tamper-proof, immutable ledger for authenticity.</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Facilitates faster processing for insurance and law enforcement.</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l" rtl="0">
              <a:lnSpc>
                <a:spcPct val="115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Deployment limited to small-scale; needs real-world pilot studies.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298450" algn="l" rtl="0">
              <a:lnSpc>
                <a:spcPct val="115000"/>
              </a:lnSpc>
              <a:spcBef>
                <a:spcPts val="0"/>
              </a:spcBef>
              <a:spcAft>
                <a:spcPts val="0"/>
              </a:spcAft>
              <a:buSzPts val="1100"/>
              <a:buChar char="●"/>
            </a:pPr>
            <a:r>
              <a:rPr lang="en-US" sz="1800">
                <a:latin typeface="Times New Roman"/>
                <a:ea typeface="Times New Roman"/>
                <a:cs typeface="Times New Roman"/>
                <a:sym typeface="Times New Roman"/>
              </a:rPr>
              <a:t>Improves trust and transparency in reporting road accidents.</a:t>
            </a:r>
            <a:br>
              <a:rPr lang="en-US" sz="1100"/>
            </a:br>
            <a:endParaRPr sz="1100"/>
          </a:p>
          <a:p>
            <a:pPr marL="457200" lvl="0" indent="0" algn="just" rtl="0">
              <a:spcBef>
                <a:spcPts val="1200"/>
              </a:spcBef>
              <a:spcAft>
                <a:spcPts val="0"/>
              </a:spcAft>
              <a:buNone/>
            </a:pPr>
            <a:endParaRPr sz="1600"/>
          </a:p>
        </p:txBody>
      </p:sp>
      <p:sp>
        <p:nvSpPr>
          <p:cNvPr id="288" name="Google Shape;288;p37"/>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8"/>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8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13: D. Cetinkaya, J. González-Villa, M. Zanotti, A. Cuesta, and M. Spagnolo, </a:t>
            </a:r>
            <a:r>
              <a:rPr lang="en-US" sz="1800">
                <a:latin typeface="Times New Roman"/>
                <a:ea typeface="Times New Roman"/>
                <a:cs typeface="Times New Roman"/>
                <a:sym typeface="Times New Roman"/>
              </a:rPr>
              <a:t>“Decentralized Edge-AI Infrastructure for Public Safety in Smart Cities: A Real-Time Response Model,” IEEE Internet of Things Journal, 2024.</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just" rtl="0">
              <a:lnSpc>
                <a:spcPct val="150000"/>
              </a:lnSpc>
              <a:spcBef>
                <a:spcPts val="640"/>
              </a:spcBef>
              <a:spcAft>
                <a:spcPts val="0"/>
              </a:spcAft>
              <a:buSzPts val="1800"/>
              <a:buFont typeface="Times New Roman"/>
              <a:buChar char="●"/>
            </a:pPr>
            <a:r>
              <a:rPr lang="en-US" sz="1800">
                <a:latin typeface="Times New Roman"/>
                <a:ea typeface="Times New Roman"/>
                <a:cs typeface="Times New Roman"/>
                <a:sym typeface="Times New Roman"/>
              </a:rPr>
              <a:t>Real-Time Detection: Identifies crimes, fires, accidents in 0.3s.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High Resilience: 99.9% uptime, works during network failures.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Privacy Focus: Face blurring, voice masking, fairness audits.</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Smart City Uses: Crime prevention, fire alerts, crowd control.</a:t>
            </a:r>
            <a:endParaRPr sz="1800">
              <a:latin typeface="Times New Roman"/>
              <a:ea typeface="Times New Roman"/>
              <a:cs typeface="Times New Roman"/>
              <a:sym typeface="Times New Roman"/>
            </a:endParaRPr>
          </a:p>
          <a:p>
            <a:pPr marL="457200" lvl="0" indent="-342900" algn="just" rtl="0">
              <a:lnSpc>
                <a:spcPct val="150000"/>
              </a:lnSpc>
              <a:spcBef>
                <a:spcPts val="0"/>
              </a:spcBef>
              <a:spcAft>
                <a:spcPts val="0"/>
              </a:spcAft>
              <a:buSzPts val="1800"/>
              <a:buFont typeface="Times New Roman"/>
              <a:buChar char="●"/>
            </a:pPr>
            <a:r>
              <a:rPr lang="en-US" sz="1800">
                <a:latin typeface="Times New Roman"/>
                <a:ea typeface="Times New Roman"/>
                <a:cs typeface="Times New Roman"/>
                <a:sym typeface="Times New Roman"/>
              </a:rPr>
              <a:t>Scalable Design: Supports 5G, federated learning, blockchain.</a:t>
            </a:r>
            <a:endParaRPr sz="1800">
              <a:latin typeface="Times New Roman"/>
              <a:ea typeface="Times New Roman"/>
              <a:cs typeface="Times New Roman"/>
              <a:sym typeface="Times New Roman"/>
            </a:endParaRPr>
          </a:p>
          <a:p>
            <a:pPr marL="0" lvl="0" indent="0" algn="just" rtl="0">
              <a:spcBef>
                <a:spcPts val="640"/>
              </a:spcBef>
              <a:spcAft>
                <a:spcPts val="0"/>
              </a:spcAft>
              <a:buNone/>
            </a:pPr>
            <a:endParaRPr sz="1600"/>
          </a:p>
          <a:p>
            <a:pPr marL="457200" lvl="0" indent="0" algn="just" rtl="0">
              <a:spcBef>
                <a:spcPts val="640"/>
              </a:spcBef>
              <a:spcAft>
                <a:spcPts val="0"/>
              </a:spcAft>
              <a:buNone/>
            </a:pPr>
            <a:endParaRPr sz="1600"/>
          </a:p>
        </p:txBody>
      </p:sp>
      <p:sp>
        <p:nvSpPr>
          <p:cNvPr id="295" name="Google Shape;295;p38"/>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b="1">
              <a:latin typeface="Times New Roman"/>
              <a:ea typeface="Times New Roman"/>
              <a:cs typeface="Times New Roman"/>
              <a:sym typeface="Times New Roman"/>
            </a:endParaRPr>
          </a:p>
        </p:txBody>
      </p:sp>
      <p:sp>
        <p:nvSpPr>
          <p:cNvPr id="296" name="Google Shape;296;p38"/>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9"/>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b="1">
              <a:latin typeface="Times New Roman"/>
              <a:ea typeface="Times New Roman"/>
              <a:cs typeface="Times New Roman"/>
              <a:sym typeface="Times New Roman"/>
            </a:endParaRPr>
          </a:p>
        </p:txBody>
      </p:sp>
      <p:sp>
        <p:nvSpPr>
          <p:cNvPr id="303" name="Google Shape;303;p39"/>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6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14: Sefati, S. S., Craciunescu, R., Arasteh, B., Halunga, S., Fratu, O., &amp; Tal, I. (2024).</a:t>
            </a:r>
            <a:r>
              <a:rPr lang="en-US" sz="1800">
                <a:latin typeface="Times New Roman"/>
                <a:ea typeface="Times New Roman"/>
                <a:cs typeface="Times New Roman"/>
                <a:sym typeface="Times New Roman"/>
              </a:rPr>
              <a:t> “Cybersecurity in a scalable smart city framework using blockchain and federated learning for internet of things (iot)”.Smart Cities, 7(5), 2802-2841.</a:t>
            </a:r>
            <a:r>
              <a:rPr lang="en-US" sz="1800">
                <a:uFill>
                  <a:noFill/>
                </a:uFill>
                <a:latin typeface="Times New Roman"/>
                <a:ea typeface="Times New Roman"/>
                <a:cs typeface="Times New Roman"/>
                <a:sym typeface="Times New Roman"/>
                <a:hlinkClick r:id="rId3"/>
              </a:rPr>
              <a:t>doi.org/10.3390/smartcities7050109</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just" rtl="0">
              <a:spcBef>
                <a:spcPts val="640"/>
              </a:spcBef>
              <a:spcAft>
                <a:spcPts val="0"/>
              </a:spcAft>
              <a:buSzPts val="1800"/>
              <a:buFont typeface="Times New Roman"/>
              <a:buChar char="●"/>
            </a:pPr>
            <a:r>
              <a:rPr lang="en-US" sz="1800">
                <a:latin typeface="Times New Roman"/>
                <a:ea typeface="Times New Roman"/>
                <a:cs typeface="Times New Roman"/>
                <a:sym typeface="Times New Roman"/>
              </a:rPr>
              <a:t>Integrates federated learning (FL) with blockchain for secure IoT data sharing.</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Allows decentralized, privacy-preserving model training across devices.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Strengthens data security and scalability in urban IoT environments.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Suffers from communication overhead and energy usage issues in FL.</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marL="457200" lvl="0" indent="-342900" algn="just" rtl="0">
              <a:spcBef>
                <a:spcPts val="0"/>
              </a:spcBef>
              <a:spcAft>
                <a:spcPts val="0"/>
              </a:spcAft>
              <a:buSzPts val="1800"/>
              <a:buFont typeface="Times New Roman"/>
              <a:buChar char="●"/>
            </a:pPr>
            <a:r>
              <a:rPr lang="en-US" sz="1800">
                <a:latin typeface="Times New Roman"/>
                <a:ea typeface="Times New Roman"/>
                <a:cs typeface="Times New Roman"/>
                <a:sym typeface="Times New Roman"/>
              </a:rPr>
              <a:t>Shows potential for secure, large-scale smart city AI systems with reduced risks</a:t>
            </a:r>
            <a:endParaRPr sz="1800">
              <a:latin typeface="Times New Roman"/>
              <a:ea typeface="Times New Roman"/>
              <a:cs typeface="Times New Roman"/>
              <a:sym typeface="Times New Roman"/>
            </a:endParaRPr>
          </a:p>
          <a:p>
            <a:pPr marL="457200" lvl="0" indent="0" algn="just" rtl="0">
              <a:spcBef>
                <a:spcPts val="640"/>
              </a:spcBef>
              <a:spcAft>
                <a:spcPts val="0"/>
              </a:spcAft>
              <a:buNone/>
            </a:pPr>
            <a:endParaRPr sz="1600">
              <a:latin typeface="Times New Roman"/>
              <a:ea typeface="Times New Roman"/>
              <a:cs typeface="Times New Roman"/>
              <a:sym typeface="Times New Roman"/>
            </a:endParaRPr>
          </a:p>
        </p:txBody>
      </p:sp>
      <p:sp>
        <p:nvSpPr>
          <p:cNvPr id="304" name="Google Shape;304;p39"/>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0"/>
          <p:cNvSpPr txBox="1">
            <a:spLocks noGrp="1"/>
          </p:cNvSpPr>
          <p:nvPr>
            <p:ph type="body" idx="1"/>
          </p:nvPr>
        </p:nvSpPr>
        <p:spPr>
          <a:xfrm>
            <a:off x="457200" y="679200"/>
            <a:ext cx="8229600" cy="5510100"/>
          </a:xfrm>
          <a:prstGeom prst="rect">
            <a:avLst/>
          </a:prstGeom>
        </p:spPr>
        <p:txBody>
          <a:bodyPr spcFirstLastPara="1" wrap="square" lIns="91425" tIns="45700" rIns="91425" bIns="45700" anchor="t" anchorCtr="0">
            <a:noAutofit/>
          </a:bodyPr>
          <a:lstStyle/>
          <a:p>
            <a:pPr marL="0" lvl="0" indent="0" algn="just" rtl="0">
              <a:spcBef>
                <a:spcPts val="640"/>
              </a:spcBef>
              <a:spcAft>
                <a:spcPts val="0"/>
              </a:spcAft>
              <a:buClr>
                <a:schemeClr val="dk1"/>
              </a:buClr>
              <a:buSzPts val="1100"/>
              <a:buFont typeface="Arial"/>
              <a:buNone/>
            </a:pPr>
            <a:endParaRPr sz="1600" b="1">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r>
              <a:rPr lang="en-US" sz="1800" b="1">
                <a:latin typeface="Times New Roman"/>
                <a:ea typeface="Times New Roman"/>
                <a:cs typeface="Times New Roman"/>
                <a:sym typeface="Times New Roman"/>
              </a:rPr>
              <a:t>Reference 15: IJung, D., Tuan, V. T., Tran, D. Q., Park, M., &amp; Park, S. (2020). “</a:t>
            </a:r>
            <a:r>
              <a:rPr lang="en-US" sz="1800">
                <a:latin typeface="Times New Roman"/>
                <a:ea typeface="Times New Roman"/>
                <a:cs typeface="Times New Roman"/>
                <a:sym typeface="Times New Roman"/>
              </a:rPr>
              <a:t>Conceptual Framework of an Intelligent Decision Support System for Smart City Disaster Management”. </a:t>
            </a:r>
            <a:r>
              <a:rPr lang="en-US" sz="1800" i="1">
                <a:latin typeface="Times New Roman"/>
                <a:ea typeface="Times New Roman"/>
                <a:cs typeface="Times New Roman"/>
                <a:sym typeface="Times New Roman"/>
              </a:rPr>
              <a:t>Applied Sciences</a:t>
            </a:r>
            <a:r>
              <a:rPr lang="en-US" sz="1800">
                <a:latin typeface="Times New Roman"/>
                <a:ea typeface="Times New Roman"/>
                <a:cs typeface="Times New Roman"/>
                <a:sym typeface="Times New Roman"/>
              </a:rPr>
              <a:t>, </a:t>
            </a:r>
            <a:r>
              <a:rPr lang="en-US" sz="1800" i="1">
                <a:latin typeface="Times New Roman"/>
                <a:ea typeface="Times New Roman"/>
                <a:cs typeface="Times New Roman"/>
                <a:sym typeface="Times New Roman"/>
              </a:rPr>
              <a:t>10</a:t>
            </a:r>
            <a:r>
              <a:rPr lang="en-US" sz="1800">
                <a:latin typeface="Times New Roman"/>
                <a:ea typeface="Times New Roman"/>
                <a:cs typeface="Times New Roman"/>
                <a:sym typeface="Times New Roman"/>
              </a:rPr>
              <a:t>(2), 640. doi: 10.3390/app10020640.</a:t>
            </a:r>
            <a:endParaRPr sz="1800">
              <a:latin typeface="Times New Roman"/>
              <a:ea typeface="Times New Roman"/>
              <a:cs typeface="Times New Roman"/>
              <a:sym typeface="Times New Roman"/>
            </a:endParaRPr>
          </a:p>
          <a:p>
            <a:pPr marL="0" lvl="0" indent="0" algn="just" rtl="0">
              <a:spcBef>
                <a:spcPts val="640"/>
              </a:spcBef>
              <a:spcAft>
                <a:spcPts val="0"/>
              </a:spcAft>
              <a:buClr>
                <a:schemeClr val="dk1"/>
              </a:buClr>
              <a:buSzPts val="1100"/>
              <a:buFont typeface="Arial"/>
              <a:buNone/>
            </a:pPr>
            <a:endParaRPr sz="1800">
              <a:latin typeface="Times New Roman"/>
              <a:ea typeface="Times New Roman"/>
              <a:cs typeface="Times New Roman"/>
              <a:sym typeface="Times New Roman"/>
            </a:endParaRPr>
          </a:p>
          <a:p>
            <a:pPr marL="457200" lvl="0" indent="-342900" algn="just" rtl="0">
              <a:spcBef>
                <a:spcPts val="640"/>
              </a:spcBef>
              <a:spcAft>
                <a:spcPts val="0"/>
              </a:spcAft>
              <a:buSzPts val="1800"/>
              <a:buFont typeface="Times New Roman"/>
              <a:buChar char="●"/>
            </a:pPr>
            <a:r>
              <a:rPr lang="en-US" sz="1800">
                <a:latin typeface="Times New Roman"/>
                <a:ea typeface="Times New Roman"/>
                <a:cs typeface="Times New Roman"/>
                <a:sym typeface="Times New Roman"/>
              </a:rPr>
              <a:t>The paper proposes an Intelligent Decision Support System (IDSS) to improve disaster management in smart cities.</a:t>
            </a:r>
            <a:endParaRPr sz="1800">
              <a:latin typeface="Times New Roman"/>
              <a:ea typeface="Times New Roman"/>
              <a:cs typeface="Times New Roman"/>
              <a:sym typeface="Times New Roman"/>
            </a:endParaRPr>
          </a:p>
          <a:p>
            <a:pPr marL="457200" lvl="0" indent="-342900" algn="just" rtl="0">
              <a:spcBef>
                <a:spcPts val="640"/>
              </a:spcBef>
              <a:spcAft>
                <a:spcPts val="0"/>
              </a:spcAft>
              <a:buSzPts val="1800"/>
              <a:buFont typeface="Times New Roman"/>
              <a:buChar char="●"/>
            </a:pPr>
            <a:r>
              <a:rPr lang="en-US" sz="1800">
                <a:latin typeface="Times New Roman"/>
                <a:ea typeface="Times New Roman"/>
                <a:cs typeface="Times New Roman"/>
                <a:sym typeface="Times New Roman"/>
              </a:rPr>
              <a:t>It uses big data and AI (specifically CNNs) to detect and respond to disasters like wildfires and heat waves in real-time.</a:t>
            </a:r>
            <a:endParaRPr sz="1800">
              <a:latin typeface="Times New Roman"/>
              <a:ea typeface="Times New Roman"/>
              <a:cs typeface="Times New Roman"/>
              <a:sym typeface="Times New Roman"/>
            </a:endParaRPr>
          </a:p>
          <a:p>
            <a:pPr marL="457200" lvl="0" indent="-342900" algn="just" rtl="0">
              <a:spcBef>
                <a:spcPts val="640"/>
              </a:spcBef>
              <a:spcAft>
                <a:spcPts val="0"/>
              </a:spcAft>
              <a:buSzPts val="1800"/>
              <a:buFont typeface="Times New Roman"/>
              <a:buChar char="●"/>
            </a:pPr>
            <a:r>
              <a:rPr lang="en-US" sz="1800">
                <a:latin typeface="Times New Roman"/>
                <a:ea typeface="Times New Roman"/>
                <a:cs typeface="Times New Roman"/>
                <a:sym typeface="Times New Roman"/>
              </a:rPr>
              <a:t>The system is designed to provide faster, more accurate decisions by reducing reliance on manual, subjective input.</a:t>
            </a:r>
            <a:endParaRPr sz="1800">
              <a:latin typeface="Times New Roman"/>
              <a:ea typeface="Times New Roman"/>
              <a:cs typeface="Times New Roman"/>
              <a:sym typeface="Times New Roman"/>
            </a:endParaRPr>
          </a:p>
          <a:p>
            <a:pPr marL="457200" lvl="0" indent="-342900" algn="just" rtl="0">
              <a:spcBef>
                <a:spcPts val="640"/>
              </a:spcBef>
              <a:spcAft>
                <a:spcPts val="0"/>
              </a:spcAft>
              <a:buSzPts val="1800"/>
              <a:buFont typeface="Times New Roman"/>
              <a:buChar char="●"/>
            </a:pPr>
            <a:r>
              <a:rPr lang="en-US" sz="1800">
                <a:latin typeface="Times New Roman"/>
                <a:ea typeface="Times New Roman"/>
                <a:cs typeface="Times New Roman"/>
                <a:sym typeface="Times New Roman"/>
              </a:rPr>
              <a:t>It also incorporates open-source intelligence (OSINT) to identify vulnerabilities and prevent cyber-attacks.</a:t>
            </a:r>
            <a:endParaRPr sz="1800">
              <a:latin typeface="Times New Roman"/>
              <a:ea typeface="Times New Roman"/>
              <a:cs typeface="Times New Roman"/>
              <a:sym typeface="Times New Roman"/>
            </a:endParaRPr>
          </a:p>
          <a:p>
            <a:pPr marL="457200" lvl="0" indent="0" algn="just" rtl="0">
              <a:spcBef>
                <a:spcPts val="640"/>
              </a:spcBef>
              <a:spcAft>
                <a:spcPts val="0"/>
              </a:spcAft>
              <a:buNone/>
            </a:pPr>
            <a:endParaRPr sz="1600">
              <a:latin typeface="Times New Roman"/>
              <a:ea typeface="Times New Roman"/>
              <a:cs typeface="Times New Roman"/>
              <a:sym typeface="Times New Roman"/>
            </a:endParaRPr>
          </a:p>
        </p:txBody>
      </p:sp>
      <p:sp>
        <p:nvSpPr>
          <p:cNvPr id="311" name="Google Shape;311;p40"/>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35</a:t>
            </a:fld>
            <a:endParaRPr/>
          </a:p>
        </p:txBody>
      </p:sp>
      <p:sp>
        <p:nvSpPr>
          <p:cNvPr id="312" name="Google Shape;312;p40"/>
          <p:cNvSpPr txBox="1">
            <a:spLocks noGrp="1"/>
          </p:cNvSpPr>
          <p:nvPr>
            <p:ph type="title"/>
          </p:nvPr>
        </p:nvSpPr>
        <p:spPr>
          <a:xfrm>
            <a:off x="457200" y="2"/>
            <a:ext cx="8229600" cy="6792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3200" b="1">
                <a:solidFill>
                  <a:srgbClr val="FFC000"/>
                </a:solidFill>
                <a:latin typeface="Times New Roman"/>
                <a:ea typeface="Times New Roman"/>
                <a:cs typeface="Times New Roman"/>
                <a:sym typeface="Times New Roman"/>
              </a:rPr>
              <a:t>LITERATURE SURVEY</a:t>
            </a:r>
            <a:endParaRPr>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endParaRPr>
              <a:solidFill>
                <a:schemeClr val="dk1"/>
              </a:solidFill>
            </a:endParaRPr>
          </a:p>
          <a:p>
            <a:pPr marL="0" lvl="0" indent="0" algn="ctr" rtl="0">
              <a:spcBef>
                <a:spcPts val="0"/>
              </a:spcBef>
              <a:spcAft>
                <a:spcPts val="0"/>
              </a:spcAft>
              <a:buNone/>
            </a:pPr>
            <a:endParaRPr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1"/>
          <p:cNvSpPr txBox="1">
            <a:spLocks noGrp="1"/>
          </p:cNvSpPr>
          <p:nvPr>
            <p:ph type="title"/>
          </p:nvPr>
        </p:nvSpPr>
        <p:spPr>
          <a:xfrm>
            <a:off x="457200" y="-12"/>
            <a:ext cx="8229600" cy="11430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2000" b="1">
                <a:solidFill>
                  <a:srgbClr val="FFC000"/>
                </a:solidFill>
                <a:latin typeface="Times New Roman"/>
                <a:ea typeface="Times New Roman"/>
                <a:cs typeface="Times New Roman"/>
                <a:sym typeface="Times New Roman"/>
              </a:rPr>
              <a:t>GAP ANALYSIS AND OUTCOME OF</a:t>
            </a:r>
            <a:endParaRPr sz="2000" b="1">
              <a:solidFill>
                <a:srgbClr val="FFC000"/>
              </a:solidFill>
              <a:latin typeface="Times New Roman"/>
              <a:ea typeface="Times New Roman"/>
              <a:cs typeface="Times New Roman"/>
              <a:sym typeface="Times New Roman"/>
            </a:endParaRPr>
          </a:p>
          <a:p>
            <a:pPr marL="0" lvl="0" indent="0" algn="ctr" rtl="0">
              <a:spcBef>
                <a:spcPts val="0"/>
              </a:spcBef>
              <a:spcAft>
                <a:spcPts val="0"/>
              </a:spcAft>
              <a:buNone/>
            </a:pPr>
            <a:r>
              <a:rPr lang="en-US" sz="2000" b="1">
                <a:solidFill>
                  <a:srgbClr val="FFC000"/>
                </a:solidFill>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p:txBody>
      </p:sp>
      <p:sp>
        <p:nvSpPr>
          <p:cNvPr id="319" name="Google Shape;319;p41"/>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36</a:t>
            </a:fld>
            <a:endParaRPr/>
          </a:p>
        </p:txBody>
      </p:sp>
      <p:graphicFrame>
        <p:nvGraphicFramePr>
          <p:cNvPr id="320" name="Google Shape;320;p41"/>
          <p:cNvGraphicFramePr/>
          <p:nvPr/>
        </p:nvGraphicFramePr>
        <p:xfrm>
          <a:off x="457200" y="750438"/>
          <a:ext cx="8572400" cy="5902420"/>
        </p:xfrm>
        <a:graphic>
          <a:graphicData uri="http://schemas.openxmlformats.org/drawingml/2006/table">
            <a:tbl>
              <a:tblPr>
                <a:noFill/>
                <a:tableStyleId>{B4D36DA7-B5A8-4BEA-9BC2-FABB74EA3EE1}</a:tableStyleId>
              </a:tblPr>
              <a:tblGrid>
                <a:gridCol w="656600">
                  <a:extLst>
                    <a:ext uri="{9D8B030D-6E8A-4147-A177-3AD203B41FA5}">
                      <a16:colId xmlns:a16="http://schemas.microsoft.com/office/drawing/2014/main" val="20000"/>
                    </a:ext>
                  </a:extLst>
                </a:gridCol>
                <a:gridCol w="1602175">
                  <a:extLst>
                    <a:ext uri="{9D8B030D-6E8A-4147-A177-3AD203B41FA5}">
                      <a16:colId xmlns:a16="http://schemas.microsoft.com/office/drawing/2014/main" val="20001"/>
                    </a:ext>
                  </a:extLst>
                </a:gridCol>
                <a:gridCol w="568950">
                  <a:extLst>
                    <a:ext uri="{9D8B030D-6E8A-4147-A177-3AD203B41FA5}">
                      <a16:colId xmlns:a16="http://schemas.microsoft.com/office/drawing/2014/main" val="20002"/>
                    </a:ext>
                  </a:extLst>
                </a:gridCol>
                <a:gridCol w="1825875">
                  <a:extLst>
                    <a:ext uri="{9D8B030D-6E8A-4147-A177-3AD203B41FA5}">
                      <a16:colId xmlns:a16="http://schemas.microsoft.com/office/drawing/2014/main" val="20003"/>
                    </a:ext>
                  </a:extLst>
                </a:gridCol>
                <a:gridCol w="1237925">
                  <a:extLst>
                    <a:ext uri="{9D8B030D-6E8A-4147-A177-3AD203B41FA5}">
                      <a16:colId xmlns:a16="http://schemas.microsoft.com/office/drawing/2014/main" val="20004"/>
                    </a:ext>
                  </a:extLst>
                </a:gridCol>
                <a:gridCol w="1087350">
                  <a:extLst>
                    <a:ext uri="{9D8B030D-6E8A-4147-A177-3AD203B41FA5}">
                      <a16:colId xmlns:a16="http://schemas.microsoft.com/office/drawing/2014/main" val="20005"/>
                    </a:ext>
                  </a:extLst>
                </a:gridCol>
                <a:gridCol w="1593525">
                  <a:extLst>
                    <a:ext uri="{9D8B030D-6E8A-4147-A177-3AD203B41FA5}">
                      <a16:colId xmlns:a16="http://schemas.microsoft.com/office/drawing/2014/main" val="20006"/>
                    </a:ext>
                  </a:extLst>
                </a:gridCol>
              </a:tblGrid>
              <a:tr h="1096475">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S.No</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Title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Year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Summary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Research Gaps </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Advantages - Performance metrics (if any discussed)</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359600">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1.</a:t>
                      </a:r>
                      <a:endParaRPr sz="1300">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64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INRISCO: INcident monitoRing in Smart COmmunities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2020</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spcBef>
                          <a:spcPts val="0"/>
                        </a:spcBef>
                        <a:spcAft>
                          <a:spcPts val="0"/>
                        </a:spcAft>
                        <a:buNone/>
                      </a:pPr>
                      <a:r>
                        <a:rPr lang="en-US">
                          <a:solidFill>
                            <a:schemeClr val="dk1"/>
                          </a:solidFill>
                          <a:latin typeface="Times New Roman"/>
                          <a:ea typeface="Times New Roman"/>
                          <a:cs typeface="Times New Roman"/>
                          <a:sym typeface="Times New Roman"/>
                        </a:rPr>
                        <a:t>The paper proposed INRISCO to detect incidents and send alerts.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Risk of false or noisy data.Privacy concerns with citizen inputs.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Need for more robust models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Enables early detection of incidents.</a:t>
                      </a:r>
                      <a:endParaRPr>
                        <a:latin typeface="Times New Roman"/>
                        <a:ea typeface="Times New Roman"/>
                        <a:cs typeface="Times New Roman"/>
                        <a:sym typeface="Times New Roman"/>
                      </a:endParaRPr>
                    </a:p>
                    <a:p>
                      <a:pPr marL="0" lvl="0" indent="0" algn="l" rtl="0">
                        <a:spcBef>
                          <a:spcPts val="0"/>
                        </a:spcBef>
                        <a:spcAft>
                          <a:spcPts val="0"/>
                        </a:spcAft>
                        <a:buNone/>
                      </a:pPr>
                      <a:r>
                        <a:rPr lang="en-US">
                          <a:latin typeface="Times New Roman"/>
                          <a:ea typeface="Times New Roman"/>
                          <a:cs typeface="Times New Roman"/>
                          <a:sym typeface="Times New Roman"/>
                        </a:rPr>
                        <a:t>Faster detection compared to traditional systems.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1423150">
                <a:tc>
                  <a:txBody>
                    <a:bodyPr/>
                    <a:lstStyle/>
                    <a:p>
                      <a:pPr marL="0" lvl="0" indent="0" algn="l" rtl="0">
                        <a:spcBef>
                          <a:spcPts val="0"/>
                        </a:spcBef>
                        <a:spcAft>
                          <a:spcPts val="0"/>
                        </a:spcAft>
                        <a:buNone/>
                      </a:pPr>
                      <a:r>
                        <a:rPr lang="en-US" sz="1100">
                          <a:latin typeface="Times New Roman"/>
                          <a:ea typeface="Times New Roman"/>
                          <a:cs typeface="Times New Roman"/>
                          <a:sym typeface="Times New Roman"/>
                        </a:rPr>
                        <a:t>2.</a:t>
                      </a:r>
                      <a:endParaRPr sz="1100">
                        <a:latin typeface="Times New Roman"/>
                        <a:ea typeface="Times New Roman"/>
                        <a:cs typeface="Times New Roman"/>
                        <a:sym typeface="Times New Roman"/>
                      </a:endParaRPr>
                    </a:p>
                  </a:txBody>
                  <a:tcPr marL="91425" marR="91425" marT="91425" marB="91425"/>
                </a:tc>
                <a:tc>
                  <a:txBody>
                    <a:bodyPr/>
                    <a:lstStyle/>
                    <a:p>
                      <a:pPr marL="0" lvl="0" indent="0" algn="just" rtl="0">
                        <a:spcBef>
                          <a:spcPts val="64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Data-Driven Approach for Incident Management in a Smart City</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2020</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The paper used Lisbon’s incident data with CRISP-DM to predict urban incidents and aid city management.</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Low accuracy,</a:t>
                      </a:r>
                      <a:endParaRPr>
                        <a:latin typeface="Times New Roman"/>
                        <a:ea typeface="Times New Roman"/>
                        <a:cs typeface="Times New Roman"/>
                        <a:sym typeface="Times New Roman"/>
                      </a:endParaRPr>
                    </a:p>
                    <a:p>
                      <a:pPr marL="0" lvl="0" indent="0" algn="l" rtl="0">
                        <a:spcBef>
                          <a:spcPts val="0"/>
                        </a:spcBef>
                        <a:spcAft>
                          <a:spcPts val="0"/>
                        </a:spcAft>
                        <a:buNone/>
                      </a:pPr>
                      <a:r>
                        <a:rPr lang="en-US">
                          <a:latin typeface="Times New Roman"/>
                          <a:ea typeface="Times New Roman"/>
                          <a:cs typeface="Times New Roman"/>
                          <a:sym typeface="Times New Roman"/>
                        </a:rPr>
                        <a:t>Small dataset,</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City-specific,</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Post-incident variables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Requirement of larger datasets,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Integration of real-time data</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Early incident detection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Better resource allocation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Evidence-based planning</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1879925">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3.</a:t>
                      </a:r>
                      <a:endParaRPr sz="1300">
                        <a:latin typeface="Times New Roman"/>
                        <a:ea typeface="Times New Roman"/>
                        <a:cs typeface="Times New Roman"/>
                        <a:sym typeface="Times New Roman"/>
                      </a:endParaRPr>
                    </a:p>
                  </a:txBody>
                  <a:tcPr marL="91425" marR="91425" marT="91425" marB="91425"/>
                </a:tc>
                <a:tc>
                  <a:txBody>
                    <a:bodyPr/>
                    <a:lstStyle/>
                    <a:p>
                      <a:pPr marL="0" lvl="0" indent="0" algn="just" rtl="0">
                        <a:spcBef>
                          <a:spcPts val="64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Software platforms for smart cities: Concepts, requirements, challenges, and a unified reference architecture</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2016</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The paper proposed CitySolution, a deep learning app for classifying and assigning citizen complaints.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Depended on quality of training data</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Limited scalability without large datasets</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Need larger datasets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IoT data integration</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marL="0" lvl="0" indent="0" algn="l" rtl="0">
                        <a:spcBef>
                          <a:spcPts val="0"/>
                        </a:spcBef>
                        <a:spcAft>
                          <a:spcPts val="0"/>
                        </a:spcAft>
                        <a:buNone/>
                      </a:pP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Deep learning classification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High accuracy (85–90%)</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marL="0" lvl="0" indent="0" algn="l" rtl="0">
                        <a:spcBef>
                          <a:spcPts val="0"/>
                        </a:spcBef>
                        <a:spcAft>
                          <a:spcPts val="0"/>
                        </a:spcAft>
                        <a:buNone/>
                      </a:pP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2"/>
          <p:cNvSpPr txBox="1">
            <a:spLocks noGrp="1"/>
          </p:cNvSpPr>
          <p:nvPr>
            <p:ph type="title"/>
          </p:nvPr>
        </p:nvSpPr>
        <p:spPr>
          <a:xfrm>
            <a:off x="457200" y="-12"/>
            <a:ext cx="8229600" cy="11430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2000" b="1">
                <a:solidFill>
                  <a:srgbClr val="FFC000"/>
                </a:solidFill>
                <a:latin typeface="Times New Roman"/>
                <a:ea typeface="Times New Roman"/>
                <a:cs typeface="Times New Roman"/>
                <a:sym typeface="Times New Roman"/>
              </a:rPr>
              <a:t>GAP ANALYSIS AND OUTCOME OF</a:t>
            </a:r>
            <a:endParaRPr sz="2000" b="1">
              <a:solidFill>
                <a:srgbClr val="FFC000"/>
              </a:solidFill>
              <a:latin typeface="Times New Roman"/>
              <a:ea typeface="Times New Roman"/>
              <a:cs typeface="Times New Roman"/>
              <a:sym typeface="Times New Roman"/>
            </a:endParaRPr>
          </a:p>
          <a:p>
            <a:pPr marL="0" lvl="0" indent="0" algn="ctr" rtl="0">
              <a:spcBef>
                <a:spcPts val="0"/>
              </a:spcBef>
              <a:spcAft>
                <a:spcPts val="0"/>
              </a:spcAft>
              <a:buNone/>
            </a:pPr>
            <a:r>
              <a:rPr lang="en-US" sz="2000" b="1">
                <a:solidFill>
                  <a:srgbClr val="FFC000"/>
                </a:solidFill>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p:txBody>
      </p:sp>
      <p:sp>
        <p:nvSpPr>
          <p:cNvPr id="327" name="Google Shape;327;p42"/>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37</a:t>
            </a:fld>
            <a:endParaRPr/>
          </a:p>
        </p:txBody>
      </p:sp>
      <p:graphicFrame>
        <p:nvGraphicFramePr>
          <p:cNvPr id="328" name="Google Shape;328;p42"/>
          <p:cNvGraphicFramePr/>
          <p:nvPr/>
        </p:nvGraphicFramePr>
        <p:xfrm>
          <a:off x="403525" y="683836"/>
          <a:ext cx="8590550" cy="6065400"/>
        </p:xfrm>
        <a:graphic>
          <a:graphicData uri="http://schemas.openxmlformats.org/drawingml/2006/table">
            <a:tbl>
              <a:tblPr>
                <a:noFill/>
                <a:tableStyleId>{B4D36DA7-B5A8-4BEA-9BC2-FABB74EA3EE1}</a:tableStyleId>
              </a:tblPr>
              <a:tblGrid>
                <a:gridCol w="616500">
                  <a:extLst>
                    <a:ext uri="{9D8B030D-6E8A-4147-A177-3AD203B41FA5}">
                      <a16:colId xmlns:a16="http://schemas.microsoft.com/office/drawing/2014/main" val="20000"/>
                    </a:ext>
                  </a:extLst>
                </a:gridCol>
                <a:gridCol w="1447400">
                  <a:extLst>
                    <a:ext uri="{9D8B030D-6E8A-4147-A177-3AD203B41FA5}">
                      <a16:colId xmlns:a16="http://schemas.microsoft.com/office/drawing/2014/main" val="20001"/>
                    </a:ext>
                  </a:extLst>
                </a:gridCol>
                <a:gridCol w="618200">
                  <a:extLst>
                    <a:ext uri="{9D8B030D-6E8A-4147-A177-3AD203B41FA5}">
                      <a16:colId xmlns:a16="http://schemas.microsoft.com/office/drawing/2014/main" val="20002"/>
                    </a:ext>
                  </a:extLst>
                </a:gridCol>
                <a:gridCol w="1651650">
                  <a:extLst>
                    <a:ext uri="{9D8B030D-6E8A-4147-A177-3AD203B41FA5}">
                      <a16:colId xmlns:a16="http://schemas.microsoft.com/office/drawing/2014/main" val="20003"/>
                    </a:ext>
                  </a:extLst>
                </a:gridCol>
                <a:gridCol w="1321600">
                  <a:extLst>
                    <a:ext uri="{9D8B030D-6E8A-4147-A177-3AD203B41FA5}">
                      <a16:colId xmlns:a16="http://schemas.microsoft.com/office/drawing/2014/main" val="20004"/>
                    </a:ext>
                  </a:extLst>
                </a:gridCol>
                <a:gridCol w="1345400">
                  <a:extLst>
                    <a:ext uri="{9D8B030D-6E8A-4147-A177-3AD203B41FA5}">
                      <a16:colId xmlns:a16="http://schemas.microsoft.com/office/drawing/2014/main" val="20005"/>
                    </a:ext>
                  </a:extLst>
                </a:gridCol>
                <a:gridCol w="1589800">
                  <a:extLst>
                    <a:ext uri="{9D8B030D-6E8A-4147-A177-3AD203B41FA5}">
                      <a16:colId xmlns:a16="http://schemas.microsoft.com/office/drawing/2014/main" val="20006"/>
                    </a:ext>
                  </a:extLst>
                </a:gridCol>
              </a:tblGrid>
              <a:tr h="1026600">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S.No</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Title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Year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Summary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Research Gaps </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Advantages - Performance metrics (if any discussed)</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535175">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4</a:t>
                      </a:r>
                      <a:endParaRPr sz="130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just" rtl="0">
                        <a:spcBef>
                          <a:spcPts val="64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Decentralized incident reporting: Mobilizing urban communities with blockchain</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2024</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The paper proposed a blockchain system for secure, transparent incident reporting.</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Lacked empirical validation.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Focused on conceptual model.</a:t>
                      </a:r>
                      <a:endParaRPr>
                        <a:latin typeface="Times New Roman"/>
                        <a:ea typeface="Times New Roman"/>
                        <a:cs typeface="Times New Roman"/>
                        <a:sym typeface="Times New Roman"/>
                      </a:endParaRPr>
                    </a:p>
                    <a:p>
                      <a:pPr marL="0" lvl="0" indent="0" algn="l" rtl="0">
                        <a:spcBef>
                          <a:spcPts val="0"/>
                        </a:spcBef>
                        <a:spcAft>
                          <a:spcPts val="0"/>
                        </a:spcAft>
                        <a:buNone/>
                      </a:pP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Real-world platform validation.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Standardized evaluation methods</a:t>
                      </a:r>
                      <a:endParaRPr>
                        <a:latin typeface="Times New Roman"/>
                        <a:ea typeface="Times New Roman"/>
                        <a:cs typeface="Times New Roman"/>
                        <a:sym typeface="Times New Roman"/>
                      </a:endParaRPr>
                    </a:p>
                    <a:p>
                      <a:pPr marL="0" lvl="0" indent="0" algn="l" rtl="0">
                        <a:spcBef>
                          <a:spcPts val="0"/>
                        </a:spcBef>
                        <a:spcAft>
                          <a:spcPts val="0"/>
                        </a:spcAft>
                        <a:buNone/>
                      </a:pP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Provided comprehensive survey.</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Identified key requirements.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marL="0" lvl="0" indent="0" algn="l" rtl="0">
                        <a:spcBef>
                          <a:spcPts val="0"/>
                        </a:spcBef>
                        <a:spcAft>
                          <a:spcPts val="0"/>
                        </a:spcAft>
                        <a:buNone/>
                      </a:pP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596350">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5</a:t>
                      </a:r>
                      <a:endParaRPr sz="130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64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Adversarial adaptation of scene graph models for understanding civic issues</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2019</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The paper proposed a smart city framework using ML and blockchain for secure complaint reporting.</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Blockchain computational overhead.</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Limited real-data testing</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Need for large-scale real deployment.</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MotifNet – 83.3%</a:t>
                      </a:r>
                      <a:endParaRPr>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Secure and transparent reporting</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Automated complaint classification</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236175">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6</a:t>
                      </a:r>
                      <a:endParaRPr sz="13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Decision-support system for safety and security assessment and management in smart cities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2024</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Proposed DSS using AI, IoT, and analytics for risk assessment, monitoring, and emergency response.</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High cost, data privacy issues, dependency on data quality.</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Need for lightweight, scalable DSS,citizen input</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Faster response time, better risk prediction, improved situational awareness.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3"/>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3"/>
          <p:cNvSpPr txBox="1">
            <a:spLocks noGrp="1"/>
          </p:cNvSpPr>
          <p:nvPr>
            <p:ph type="title"/>
          </p:nvPr>
        </p:nvSpPr>
        <p:spPr>
          <a:xfrm>
            <a:off x="457200" y="-12"/>
            <a:ext cx="8229600" cy="11430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2000" b="1">
                <a:solidFill>
                  <a:srgbClr val="FFC000"/>
                </a:solidFill>
                <a:latin typeface="Times New Roman"/>
                <a:ea typeface="Times New Roman"/>
                <a:cs typeface="Times New Roman"/>
                <a:sym typeface="Times New Roman"/>
              </a:rPr>
              <a:t>GAP ANALYSIS AND OUTCOME OF</a:t>
            </a:r>
            <a:endParaRPr sz="2000" b="1">
              <a:solidFill>
                <a:srgbClr val="FFC000"/>
              </a:solidFill>
              <a:latin typeface="Times New Roman"/>
              <a:ea typeface="Times New Roman"/>
              <a:cs typeface="Times New Roman"/>
              <a:sym typeface="Times New Roman"/>
            </a:endParaRPr>
          </a:p>
          <a:p>
            <a:pPr marL="0" lvl="0" indent="0" algn="ctr" rtl="0">
              <a:spcBef>
                <a:spcPts val="0"/>
              </a:spcBef>
              <a:spcAft>
                <a:spcPts val="0"/>
              </a:spcAft>
              <a:buNone/>
            </a:pPr>
            <a:r>
              <a:rPr lang="en-US" sz="2000" b="1">
                <a:solidFill>
                  <a:srgbClr val="FFC000"/>
                </a:solidFill>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p:txBody>
      </p:sp>
      <p:sp>
        <p:nvSpPr>
          <p:cNvPr id="335" name="Google Shape;335;p43"/>
          <p:cNvSpPr txBox="1">
            <a:spLocks noGrp="1"/>
          </p:cNvSpPr>
          <p:nvPr>
            <p:ph type="sldNum" idx="12"/>
          </p:nvPr>
        </p:nvSpPr>
        <p:spPr>
          <a:xfrm>
            <a:off x="5122175" y="66615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38</a:t>
            </a:fld>
            <a:endParaRPr/>
          </a:p>
        </p:txBody>
      </p:sp>
      <p:graphicFrame>
        <p:nvGraphicFramePr>
          <p:cNvPr id="336" name="Google Shape;336;p43"/>
          <p:cNvGraphicFramePr/>
          <p:nvPr/>
        </p:nvGraphicFramePr>
        <p:xfrm>
          <a:off x="395525" y="659161"/>
          <a:ext cx="8748475" cy="6321225"/>
        </p:xfrm>
        <a:graphic>
          <a:graphicData uri="http://schemas.openxmlformats.org/drawingml/2006/table">
            <a:tbl>
              <a:tblPr>
                <a:noFill/>
                <a:tableStyleId>{B4D36DA7-B5A8-4BEA-9BC2-FABB74EA3EE1}</a:tableStyleId>
              </a:tblPr>
              <a:tblGrid>
                <a:gridCol w="548300">
                  <a:extLst>
                    <a:ext uri="{9D8B030D-6E8A-4147-A177-3AD203B41FA5}">
                      <a16:colId xmlns:a16="http://schemas.microsoft.com/office/drawing/2014/main" val="20000"/>
                    </a:ext>
                  </a:extLst>
                </a:gridCol>
                <a:gridCol w="1626175">
                  <a:extLst>
                    <a:ext uri="{9D8B030D-6E8A-4147-A177-3AD203B41FA5}">
                      <a16:colId xmlns:a16="http://schemas.microsoft.com/office/drawing/2014/main" val="20001"/>
                    </a:ext>
                  </a:extLst>
                </a:gridCol>
                <a:gridCol w="591350">
                  <a:extLst>
                    <a:ext uri="{9D8B030D-6E8A-4147-A177-3AD203B41FA5}">
                      <a16:colId xmlns:a16="http://schemas.microsoft.com/office/drawing/2014/main" val="20002"/>
                    </a:ext>
                  </a:extLst>
                </a:gridCol>
                <a:gridCol w="1694600">
                  <a:extLst>
                    <a:ext uri="{9D8B030D-6E8A-4147-A177-3AD203B41FA5}">
                      <a16:colId xmlns:a16="http://schemas.microsoft.com/office/drawing/2014/main" val="20003"/>
                    </a:ext>
                  </a:extLst>
                </a:gridCol>
                <a:gridCol w="1146025">
                  <a:extLst>
                    <a:ext uri="{9D8B030D-6E8A-4147-A177-3AD203B41FA5}">
                      <a16:colId xmlns:a16="http://schemas.microsoft.com/office/drawing/2014/main" val="20004"/>
                    </a:ext>
                  </a:extLst>
                </a:gridCol>
                <a:gridCol w="1252025">
                  <a:extLst>
                    <a:ext uri="{9D8B030D-6E8A-4147-A177-3AD203B41FA5}">
                      <a16:colId xmlns:a16="http://schemas.microsoft.com/office/drawing/2014/main" val="20005"/>
                    </a:ext>
                  </a:extLst>
                </a:gridCol>
                <a:gridCol w="1890000">
                  <a:extLst>
                    <a:ext uri="{9D8B030D-6E8A-4147-A177-3AD203B41FA5}">
                      <a16:colId xmlns:a16="http://schemas.microsoft.com/office/drawing/2014/main" val="20006"/>
                    </a:ext>
                  </a:extLst>
                </a:gridCol>
              </a:tblGrid>
              <a:tr h="802025">
                <a:tc>
                  <a:txBody>
                    <a:bodyPr/>
                    <a:lstStyle/>
                    <a:p>
                      <a:pPr marL="0" lvl="0" indent="0" algn="just" rtl="0">
                        <a:spcBef>
                          <a:spcPts val="0"/>
                        </a:spcBef>
                        <a:spcAft>
                          <a:spcPts val="0"/>
                        </a:spcAft>
                        <a:buNone/>
                      </a:pPr>
                      <a:r>
                        <a:rPr lang="en-US" b="1">
                          <a:latin typeface="Times New Roman"/>
                          <a:ea typeface="Times New Roman"/>
                          <a:cs typeface="Times New Roman"/>
                          <a:sym typeface="Times New Roman"/>
                        </a:rPr>
                        <a:t>S.No</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b="1">
                          <a:latin typeface="Times New Roman"/>
                          <a:ea typeface="Times New Roman"/>
                          <a:cs typeface="Times New Roman"/>
                          <a:sym typeface="Times New Roman"/>
                        </a:rPr>
                        <a:t>Title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b="1">
                          <a:latin typeface="Times New Roman"/>
                          <a:ea typeface="Times New Roman"/>
                          <a:cs typeface="Times New Roman"/>
                          <a:sym typeface="Times New Roman"/>
                        </a:rPr>
                        <a:t>Year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b="1">
                          <a:latin typeface="Times New Roman"/>
                          <a:ea typeface="Times New Roman"/>
                          <a:cs typeface="Times New Roman"/>
                          <a:sym typeface="Times New Roman"/>
                        </a:rPr>
                        <a:t>Summary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b="1">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b="1">
                          <a:latin typeface="Times New Roman"/>
                          <a:ea typeface="Times New Roman"/>
                          <a:cs typeface="Times New Roman"/>
                          <a:sym typeface="Times New Roman"/>
                        </a:rPr>
                        <a:t>Research Gaps </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Advantages - Performance metrics (if any discussed)</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841725">
                <a:tc>
                  <a:txBody>
                    <a:bodyPr/>
                    <a:lstStyle/>
                    <a:p>
                      <a:pPr marL="0" lvl="0" indent="0" algn="just" rtl="0">
                        <a:spcBef>
                          <a:spcPts val="0"/>
                        </a:spcBef>
                        <a:spcAft>
                          <a:spcPts val="0"/>
                        </a:spcAft>
                        <a:buNone/>
                      </a:pPr>
                      <a:r>
                        <a:rPr lang="en-US" sz="1300">
                          <a:latin typeface="Times New Roman"/>
                          <a:ea typeface="Times New Roman"/>
                          <a:cs typeface="Times New Roman"/>
                          <a:sym typeface="Times New Roman"/>
                        </a:rPr>
                        <a:t>7</a:t>
                      </a:r>
                      <a:endParaRPr sz="130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64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CrowDSL: Platform for Incidents Management in a Smart City Context</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2021</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a:solidFill>
                            <a:schemeClr val="dk1"/>
                          </a:solidFill>
                          <a:latin typeface="Times New Roman"/>
                          <a:ea typeface="Times New Roman"/>
                          <a:cs typeface="Times New Roman"/>
                          <a:sym typeface="Times New Roman"/>
                        </a:rPr>
                        <a:t>A platform for incident management using a graphical DSL to optimize services and improve quality of life.</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Lack of a standardized and user-friendly reporting method in previous approaches</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The need for an intuitive incident-reporting process that encourages citizen participation.</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The use of a DSL aims to shorten reporting time and provide more expressive power..</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049650">
                <a:tc>
                  <a:txBody>
                    <a:bodyPr/>
                    <a:lstStyle/>
                    <a:p>
                      <a:pPr marL="0" lvl="0" indent="0" algn="just" rtl="0">
                        <a:spcBef>
                          <a:spcPts val="0"/>
                        </a:spcBef>
                        <a:spcAft>
                          <a:spcPts val="0"/>
                        </a:spcAft>
                        <a:buNone/>
                      </a:pPr>
                      <a:r>
                        <a:rPr lang="en-US" sz="1200">
                          <a:latin typeface="Times New Roman"/>
                          <a:ea typeface="Times New Roman"/>
                          <a:cs typeface="Times New Roman"/>
                          <a:sym typeface="Times New Roman"/>
                        </a:rPr>
                        <a:t>8</a:t>
                      </a:r>
                      <a:endParaRPr sz="120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640"/>
                        </a:spcBef>
                        <a:spcAft>
                          <a:spcPts val="0"/>
                        </a:spcAft>
                        <a:buClr>
                          <a:schemeClr val="dk1"/>
                        </a:buClr>
                        <a:buSzPts val="1100"/>
                        <a:buFont typeface="Arial"/>
                        <a:buNone/>
                      </a:pPr>
                      <a:r>
                        <a:rPr lang="en-US">
                          <a:latin typeface="Times New Roman"/>
                          <a:ea typeface="Times New Roman"/>
                          <a:cs typeface="Times New Roman"/>
                          <a:sym typeface="Times New Roman"/>
                        </a:rPr>
                        <a:t>CitySolution: A complaining task distributive mobile application for smart city corporation using deep learning</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2024</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Proposes two Android apps to manage citizen complaints.It uses a deep learning model to automatically categorize complaints from photos.</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City corporations struggle with manual management and classification, leading to delays.</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A need for an automated complaint management and categorization system</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The use of a deep learning model reduces time and human error in complaint categorization</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505475">
                <a:tc>
                  <a:txBody>
                    <a:bodyPr/>
                    <a:lstStyle/>
                    <a:p>
                      <a:pPr marL="0" lvl="0" indent="0" algn="just" rtl="0">
                        <a:spcBef>
                          <a:spcPts val="0"/>
                        </a:spcBef>
                        <a:spcAft>
                          <a:spcPts val="0"/>
                        </a:spcAft>
                        <a:buNone/>
                      </a:pPr>
                      <a:r>
                        <a:rPr lang="en-US" sz="1300">
                          <a:latin typeface="Times New Roman"/>
                          <a:ea typeface="Times New Roman"/>
                          <a:cs typeface="Times New Roman"/>
                          <a:sym typeface="Times New Roman"/>
                        </a:rPr>
                        <a:t>9</a:t>
                      </a:r>
                      <a:endParaRPr sz="1300">
                        <a:latin typeface="Times New Roman"/>
                        <a:ea typeface="Times New Roman"/>
                        <a:cs typeface="Times New Roman"/>
                        <a:sym typeface="Times New Roman"/>
                      </a:endParaRPr>
                    </a:p>
                  </a:txBody>
                  <a:tcPr marL="91425" marR="91425" marT="91425" marB="91425"/>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Decentralized trust framework for smart cities: a blockchain-enabled cybersecurity and data integrity model</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2025</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A blockchain-enabled trust framework using AI to enhance cybersecurity, data integrity, and trust.</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Vulnerabilities in cybersecurity, data integrity, and trust due to IoT devices.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spcBef>
                          <a:spcPts val="0"/>
                        </a:spcBef>
                        <a:spcAft>
                          <a:spcPts val="0"/>
                        </a:spcAft>
                        <a:buNone/>
                      </a:pPr>
                      <a:r>
                        <a:rPr lang="en-US">
                          <a:latin typeface="Times New Roman"/>
                          <a:ea typeface="Times New Roman"/>
                          <a:cs typeface="Times New Roman"/>
                          <a:sym typeface="Times New Roman"/>
                        </a:rPr>
                        <a:t>Triple transaction throughput, 30% lower latency, enhanced energy efficiency, and a 98.2% threat detection rate.</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44"/>
          <p:cNvSpPr txBox="1">
            <a:spLocks noGrp="1"/>
          </p:cNvSpPr>
          <p:nvPr>
            <p:ph type="title"/>
          </p:nvPr>
        </p:nvSpPr>
        <p:spPr>
          <a:xfrm>
            <a:off x="457200" y="-12"/>
            <a:ext cx="8229600" cy="11430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2000" b="1">
                <a:solidFill>
                  <a:srgbClr val="FFC000"/>
                </a:solidFill>
                <a:latin typeface="Times New Roman"/>
                <a:ea typeface="Times New Roman"/>
                <a:cs typeface="Times New Roman"/>
                <a:sym typeface="Times New Roman"/>
              </a:rPr>
              <a:t>GAP ANALYSIS AND OUTCOME OF</a:t>
            </a:r>
            <a:endParaRPr sz="2000" b="1">
              <a:solidFill>
                <a:srgbClr val="FFC000"/>
              </a:solidFill>
              <a:latin typeface="Times New Roman"/>
              <a:ea typeface="Times New Roman"/>
              <a:cs typeface="Times New Roman"/>
              <a:sym typeface="Times New Roman"/>
            </a:endParaRPr>
          </a:p>
          <a:p>
            <a:pPr marL="0" lvl="0" indent="0" algn="ctr" rtl="0">
              <a:spcBef>
                <a:spcPts val="0"/>
              </a:spcBef>
              <a:spcAft>
                <a:spcPts val="0"/>
              </a:spcAft>
              <a:buNone/>
            </a:pPr>
            <a:r>
              <a:rPr lang="en-US" sz="2000" b="1">
                <a:solidFill>
                  <a:srgbClr val="FFC000"/>
                </a:solidFill>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p:txBody>
      </p:sp>
      <p:sp>
        <p:nvSpPr>
          <p:cNvPr id="343" name="Google Shape;343;p44"/>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39</a:t>
            </a:fld>
            <a:endParaRPr/>
          </a:p>
        </p:txBody>
      </p:sp>
      <p:graphicFrame>
        <p:nvGraphicFramePr>
          <p:cNvPr id="344" name="Google Shape;344;p44"/>
          <p:cNvGraphicFramePr/>
          <p:nvPr/>
        </p:nvGraphicFramePr>
        <p:xfrm>
          <a:off x="403525" y="683836"/>
          <a:ext cx="8604525" cy="6133218"/>
        </p:xfrm>
        <a:graphic>
          <a:graphicData uri="http://schemas.openxmlformats.org/drawingml/2006/table">
            <a:tbl>
              <a:tblPr>
                <a:noFill/>
                <a:tableStyleId>{B4D36DA7-B5A8-4BEA-9BC2-FABB74EA3EE1}</a:tableStyleId>
              </a:tblPr>
              <a:tblGrid>
                <a:gridCol w="592075">
                  <a:extLst>
                    <a:ext uri="{9D8B030D-6E8A-4147-A177-3AD203B41FA5}">
                      <a16:colId xmlns:a16="http://schemas.microsoft.com/office/drawing/2014/main" val="20000"/>
                    </a:ext>
                  </a:extLst>
                </a:gridCol>
                <a:gridCol w="1435550">
                  <a:extLst>
                    <a:ext uri="{9D8B030D-6E8A-4147-A177-3AD203B41FA5}">
                      <a16:colId xmlns:a16="http://schemas.microsoft.com/office/drawing/2014/main" val="20001"/>
                    </a:ext>
                  </a:extLst>
                </a:gridCol>
                <a:gridCol w="612250">
                  <a:extLst>
                    <a:ext uri="{9D8B030D-6E8A-4147-A177-3AD203B41FA5}">
                      <a16:colId xmlns:a16="http://schemas.microsoft.com/office/drawing/2014/main" val="20002"/>
                    </a:ext>
                  </a:extLst>
                </a:gridCol>
                <a:gridCol w="1693875">
                  <a:extLst>
                    <a:ext uri="{9D8B030D-6E8A-4147-A177-3AD203B41FA5}">
                      <a16:colId xmlns:a16="http://schemas.microsoft.com/office/drawing/2014/main" val="20003"/>
                    </a:ext>
                  </a:extLst>
                </a:gridCol>
                <a:gridCol w="1263950">
                  <a:extLst>
                    <a:ext uri="{9D8B030D-6E8A-4147-A177-3AD203B41FA5}">
                      <a16:colId xmlns:a16="http://schemas.microsoft.com/office/drawing/2014/main" val="20004"/>
                    </a:ext>
                  </a:extLst>
                </a:gridCol>
                <a:gridCol w="1319250">
                  <a:extLst>
                    <a:ext uri="{9D8B030D-6E8A-4147-A177-3AD203B41FA5}">
                      <a16:colId xmlns:a16="http://schemas.microsoft.com/office/drawing/2014/main" val="20005"/>
                    </a:ext>
                  </a:extLst>
                </a:gridCol>
                <a:gridCol w="1687575">
                  <a:extLst>
                    <a:ext uri="{9D8B030D-6E8A-4147-A177-3AD203B41FA5}">
                      <a16:colId xmlns:a16="http://schemas.microsoft.com/office/drawing/2014/main" val="20006"/>
                    </a:ext>
                  </a:extLst>
                </a:gridCol>
              </a:tblGrid>
              <a:tr h="1026600">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S.No</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Title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Year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Summary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Research Gaps </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Advantages - Performance metrics (if any discussed)</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557775">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1200"/>
                        </a:spcBef>
                        <a:spcAft>
                          <a:spcPts val="120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Conceptual Framework of an Intelligent Decision Support System for Smart City Disaster Management</a:t>
                      </a:r>
                      <a:endParaRPr sz="130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2020</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A conceptual framework of an Intelligent Disaster Management System (IDSS) using big data and AI for wildfires and cold/heat waves.</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Existing systems focus on storms, floods, and earthquakes and do not use past data.</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The need for an IDSS that uses a wider range of data and addresses a broader range of disasters.</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Aims to help decision-makers make faster and more accurate decisions to save lives and reduce damage.</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512575">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11</a:t>
                      </a:r>
                      <a:endParaRPr sz="130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64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BlockIPFS - Blockchain-Enabled Interplanetary File System for Forensic and Trusted Data Traceability</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2019</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Enhances IPFS with Hyperledger Fabric to provide an audit trail for file operations.</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IPFS lacks traceability and access control.</a:t>
                      </a:r>
                      <a:endParaRPr sz="13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File owner loses control after sharing the hash.</a:t>
                      </a:r>
                      <a:endParaRPr sz="1300">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Lack of an audit trail for access events on IPFS.</a:t>
                      </a:r>
                      <a:endParaRPr sz="130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Need to ensure only authorized users access a file.</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Provides a clear audit trail.</a:t>
                      </a:r>
                      <a:endParaRPr sz="130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Hyperledger Fabric offers higher performance </a:t>
                      </a:r>
                      <a:endParaRPr sz="13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532975">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12</a:t>
                      </a:r>
                      <a:endParaRPr sz="13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Blockchain-Based Mobile Application for Traffic Accident Report's Management</a:t>
                      </a:r>
                      <a:endParaRPr sz="1300">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2024</a:t>
                      </a:r>
                      <a:endParaRPr sz="1300">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A mobile app that uses blockchain and IPFS for authentic and secure traffic accident reports.</a:t>
                      </a:r>
                      <a:endParaRPr sz="1300">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Traditional paper reports are prone to human error and lack security.</a:t>
                      </a:r>
                      <a:endParaRPr sz="1300">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Addresses the need to replace paper-based reporting with a decentralized, immutable system.</a:t>
                      </a:r>
                      <a:endParaRPr sz="1300">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Ensures data integrity, accountability, and traceability.</a:t>
                      </a:r>
                      <a:endParaRPr sz="130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Reduces processing time.</a:t>
                      </a:r>
                      <a:endParaRPr sz="1300">
                        <a:latin typeface="Times New Roman"/>
                        <a:ea typeface="Times New Roman"/>
                        <a:cs typeface="Times New Roman"/>
                        <a:sym typeface="Times New Roman"/>
                      </a:endParaRPr>
                    </a:p>
                    <a:p>
                      <a:pPr marL="0" lvl="0" indent="0" algn="l" rtl="0">
                        <a:spcBef>
                          <a:spcPts val="0"/>
                        </a:spcBef>
                        <a:spcAft>
                          <a:spcPts val="0"/>
                        </a:spcAft>
                        <a:buNone/>
                      </a:pPr>
                      <a:endParaRPr sz="1300">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5"/>
          <p:cNvSpPr txBox="1">
            <a:spLocks noGrp="1"/>
          </p:cNvSpPr>
          <p:nvPr>
            <p:ph type="title"/>
          </p:nvPr>
        </p:nvSpPr>
        <p:spPr>
          <a:xfrm>
            <a:off x="457200" y="-12"/>
            <a:ext cx="8229600" cy="1143000"/>
          </a:xfrm>
          <a:prstGeom prst="rect">
            <a:avLst/>
          </a:prstGeom>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100"/>
              <a:buFont typeface="Arial"/>
              <a:buNone/>
            </a:pPr>
            <a:r>
              <a:rPr lang="en-US" sz="2000" b="1">
                <a:solidFill>
                  <a:srgbClr val="FFC000"/>
                </a:solidFill>
              </a:rPr>
              <a:t>GAP ANALYSIS AND OUTCOME OF</a:t>
            </a:r>
            <a:endParaRPr sz="2000" b="1">
              <a:solidFill>
                <a:srgbClr val="FFC000"/>
              </a:solidFill>
            </a:endParaRPr>
          </a:p>
          <a:p>
            <a:pPr marL="0" lvl="0" indent="0" algn="ctr" rtl="0">
              <a:spcBef>
                <a:spcPts val="0"/>
              </a:spcBef>
              <a:spcAft>
                <a:spcPts val="0"/>
              </a:spcAft>
              <a:buNone/>
            </a:pPr>
            <a:r>
              <a:rPr lang="en-US" sz="2000" b="1">
                <a:solidFill>
                  <a:srgbClr val="FFC000"/>
                </a:solidFill>
              </a:rPr>
              <a:t>LITERATURE SURVEY</a:t>
            </a:r>
            <a:endParaRPr/>
          </a:p>
        </p:txBody>
      </p:sp>
      <p:sp>
        <p:nvSpPr>
          <p:cNvPr id="351" name="Google Shape;351;p45"/>
          <p:cNvSpPr txBox="1">
            <a:spLocks noGrp="1"/>
          </p:cNvSpPr>
          <p:nvPr>
            <p:ph type="sldNum" idx="12"/>
          </p:nvPr>
        </p:nvSpPr>
        <p:spPr>
          <a:xfrm>
            <a:off x="7239000" y="6415088"/>
            <a:ext cx="1905000" cy="3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rgbClr val="000000"/>
              </a:buClr>
              <a:buFont typeface="Arial"/>
              <a:buNone/>
            </a:pPr>
            <a:fld id="{00000000-1234-1234-1234-123412341234}" type="slidenum">
              <a:rPr lang="en-US"/>
              <a:t>40</a:t>
            </a:fld>
            <a:endParaRPr/>
          </a:p>
        </p:txBody>
      </p:sp>
      <p:graphicFrame>
        <p:nvGraphicFramePr>
          <p:cNvPr id="352" name="Google Shape;352;p45"/>
          <p:cNvGraphicFramePr/>
          <p:nvPr/>
        </p:nvGraphicFramePr>
        <p:xfrm>
          <a:off x="430363" y="720036"/>
          <a:ext cx="8590550" cy="6065400"/>
        </p:xfrm>
        <a:graphic>
          <a:graphicData uri="http://schemas.openxmlformats.org/drawingml/2006/table">
            <a:tbl>
              <a:tblPr>
                <a:noFill/>
                <a:tableStyleId>{B4D36DA7-B5A8-4BEA-9BC2-FABB74EA3EE1}</a:tableStyleId>
              </a:tblPr>
              <a:tblGrid>
                <a:gridCol w="592075">
                  <a:extLst>
                    <a:ext uri="{9D8B030D-6E8A-4147-A177-3AD203B41FA5}">
                      <a16:colId xmlns:a16="http://schemas.microsoft.com/office/drawing/2014/main" val="20000"/>
                    </a:ext>
                  </a:extLst>
                </a:gridCol>
                <a:gridCol w="1435550">
                  <a:extLst>
                    <a:ext uri="{9D8B030D-6E8A-4147-A177-3AD203B41FA5}">
                      <a16:colId xmlns:a16="http://schemas.microsoft.com/office/drawing/2014/main" val="20001"/>
                    </a:ext>
                  </a:extLst>
                </a:gridCol>
                <a:gridCol w="598275">
                  <a:extLst>
                    <a:ext uri="{9D8B030D-6E8A-4147-A177-3AD203B41FA5}">
                      <a16:colId xmlns:a16="http://schemas.microsoft.com/office/drawing/2014/main" val="20002"/>
                    </a:ext>
                  </a:extLst>
                </a:gridCol>
                <a:gridCol w="1707850">
                  <a:extLst>
                    <a:ext uri="{9D8B030D-6E8A-4147-A177-3AD203B41FA5}">
                      <a16:colId xmlns:a16="http://schemas.microsoft.com/office/drawing/2014/main" val="20003"/>
                    </a:ext>
                  </a:extLst>
                </a:gridCol>
                <a:gridCol w="1263950">
                  <a:extLst>
                    <a:ext uri="{9D8B030D-6E8A-4147-A177-3AD203B41FA5}">
                      <a16:colId xmlns:a16="http://schemas.microsoft.com/office/drawing/2014/main" val="20004"/>
                    </a:ext>
                  </a:extLst>
                </a:gridCol>
                <a:gridCol w="1319250">
                  <a:extLst>
                    <a:ext uri="{9D8B030D-6E8A-4147-A177-3AD203B41FA5}">
                      <a16:colId xmlns:a16="http://schemas.microsoft.com/office/drawing/2014/main" val="20005"/>
                    </a:ext>
                  </a:extLst>
                </a:gridCol>
                <a:gridCol w="1673600">
                  <a:extLst>
                    <a:ext uri="{9D8B030D-6E8A-4147-A177-3AD203B41FA5}">
                      <a16:colId xmlns:a16="http://schemas.microsoft.com/office/drawing/2014/main" val="20006"/>
                    </a:ext>
                  </a:extLst>
                </a:gridCol>
              </a:tblGrid>
              <a:tr h="998675">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S.No</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b="1">
                          <a:latin typeface="Times New Roman"/>
                          <a:ea typeface="Times New Roman"/>
                          <a:cs typeface="Times New Roman"/>
                          <a:sym typeface="Times New Roman"/>
                        </a:rPr>
                        <a:t>Title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Year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Summary of the paper</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Limitations</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Research Gaps </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US" b="1">
                          <a:latin typeface="Times New Roman"/>
                          <a:ea typeface="Times New Roman"/>
                          <a:cs typeface="Times New Roman"/>
                          <a:sym typeface="Times New Roman"/>
                        </a:rPr>
                        <a:t>Advantages - Performance metrics (if any discussed)</a:t>
                      </a:r>
                      <a:endParaRPr b="1">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1236525">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13</a:t>
                      </a:r>
                      <a:endParaRPr sz="120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1200"/>
                        </a:spcBef>
                        <a:spcAft>
                          <a:spcPts val="1200"/>
                        </a:spcAft>
                        <a:buClr>
                          <a:schemeClr val="dk1"/>
                        </a:buClr>
                        <a:buSzPts val="1100"/>
                        <a:buFont typeface="Arial"/>
                        <a:buNone/>
                      </a:pPr>
                      <a:r>
                        <a:rPr lang="en-US">
                          <a:solidFill>
                            <a:schemeClr val="dk1"/>
                          </a:solidFill>
                          <a:latin typeface="Times New Roman"/>
                          <a:ea typeface="Times New Roman"/>
                          <a:cs typeface="Times New Roman"/>
                          <a:sym typeface="Times New Roman"/>
                        </a:rPr>
                        <a:t>Decentralized Edge-AI Infrastructure for Public Safety in Smart Cities</a:t>
                      </a:r>
                      <a:endParaRPr>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2023</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Uses Edge-AI for public safety.</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High latency and single points of failure in cloud-based systems..</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High latency and single points of failure in cloud-based systems.</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Low latency and improved fault tolerance..</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303075">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14</a:t>
                      </a:r>
                      <a:endParaRPr sz="1300">
                        <a:latin typeface="Times New Roman"/>
                        <a:ea typeface="Times New Roman"/>
                        <a:cs typeface="Times New Roman"/>
                        <a:sym typeface="Times New Roman"/>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just" rtl="0">
                        <a:spcBef>
                          <a:spcPts val="64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Cybersecurity in a Scalable Smart City Framework Using Blockchain and Federated Learning for IoT</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2024</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Uses blockchain and federated learning for IoT security.</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Existing frameworks lack security and scalability.</a:t>
                      </a:r>
                      <a:endParaRPr>
                        <a:solidFill>
                          <a:schemeClr val="dk1"/>
                        </a:solidFill>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A gap in solutions that address security, privacy, and scalability simultaneously.</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Provides a scalable, secure, and low-latency solution.</a:t>
                      </a:r>
                      <a:endParaRPr>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532975">
                <a:tc>
                  <a:txBody>
                    <a:bodyPr/>
                    <a:lstStyle/>
                    <a:p>
                      <a:pPr marL="0" lvl="0" indent="0" algn="l" rtl="0">
                        <a:spcBef>
                          <a:spcPts val="0"/>
                        </a:spcBef>
                        <a:spcAft>
                          <a:spcPts val="0"/>
                        </a:spcAft>
                        <a:buNone/>
                      </a:pPr>
                      <a:r>
                        <a:rPr lang="en-US" sz="1300">
                          <a:latin typeface="Times New Roman"/>
                          <a:ea typeface="Times New Roman"/>
                          <a:cs typeface="Times New Roman"/>
                          <a:sym typeface="Times New Roman"/>
                        </a:rPr>
                        <a:t>15</a:t>
                      </a:r>
                      <a:endParaRPr sz="13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Conceptual Framework of an Intelligent Decision Support System for Smart City Disaster Management</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2020</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It uses big data and AI algorithms to help decision-makers respond faster and more accurately to disasters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Existing studies haven't used past data and focus only on storms, floods, and earthquakes.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Clr>
                          <a:schemeClr val="dk1"/>
                        </a:buClr>
                        <a:buSzPts val="1100"/>
                        <a:buFont typeface="Arial"/>
                        <a:buNone/>
                      </a:pPr>
                      <a:r>
                        <a:rPr lang="en-US">
                          <a:latin typeface="Times New Roman"/>
                          <a:ea typeface="Times New Roman"/>
                          <a:cs typeface="Times New Roman"/>
                          <a:sym typeface="Times New Roman"/>
                        </a:rPr>
                        <a:t>The use of past disaster data for analysis and prediction has not been sufficiently investigated.</a:t>
                      </a:r>
                      <a:endParaRPr>
                        <a:latin typeface="Times New Roman"/>
                        <a:ea typeface="Times New Roman"/>
                        <a:cs typeface="Times New Roman"/>
                        <a:sym typeface="Times New Roman"/>
                      </a:endParaRPr>
                    </a:p>
                    <a:p>
                      <a:pPr marL="0" lvl="0" indent="0" algn="l" rtl="0">
                        <a:spcBef>
                          <a:spcPts val="0"/>
                        </a:spcBef>
                        <a:spcAft>
                          <a:spcPts val="0"/>
                        </a:spcAft>
                        <a:buNone/>
                      </a:pP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Helps decision-makers make faster and more accurate decisions  Can automatically detect fires.</a:t>
                      </a:r>
                      <a:endParaRPr>
                        <a:latin typeface="Times New Roman"/>
                        <a:ea typeface="Times New Roman"/>
                        <a:cs typeface="Times New Roman"/>
                        <a:sym typeface="Times New Roman"/>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MIS Template">
  <a:themeElements>
    <a:clrScheme name="MIS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5636</Words>
  <Application>Microsoft Office PowerPoint</Application>
  <PresentationFormat>On-screen Show (4:3)</PresentationFormat>
  <Paragraphs>514</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Verdana</vt:lpstr>
      <vt:lpstr>Calibri</vt:lpstr>
      <vt:lpstr>Arial</vt:lpstr>
      <vt:lpstr>Roboto Mono</vt:lpstr>
      <vt:lpstr>Times New Roman</vt:lpstr>
      <vt:lpstr>MIS Template</vt:lpstr>
      <vt:lpstr>PowerPoint Presentation</vt:lpstr>
      <vt:lpstr>PowerPoint Presentation</vt:lpstr>
      <vt:lpstr>ABSTRACT</vt:lpstr>
      <vt:lpstr>INTRODUCTION</vt:lpstr>
      <vt:lpstr>BASE PAPER &amp; OBJECTIVES</vt:lpstr>
      <vt:lpstr>BLOCK DIAGRAM</vt:lpstr>
      <vt:lpstr>METHODOLOGY</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lpstr>REFERENCES </vt:lpstr>
      <vt:lpstr>PowerPoint Presentation</vt:lpstr>
      <vt:lpstr>LITERATURE SURVEY</vt:lpstr>
      <vt:lpstr>LITERATURE SURVEY</vt:lpstr>
      <vt:lpstr>LITERATURE SURVEY </vt:lpstr>
      <vt:lpstr>LITERATURE SURVEY  </vt:lpstr>
      <vt:lpstr>LITERATURE SURVEY  </vt:lpstr>
      <vt:lpstr>LITERATURE SURVEY  </vt:lpstr>
      <vt:lpstr>LITERATURE SURVEY  </vt:lpstr>
      <vt:lpstr>LITERATURE SURVEY  </vt:lpstr>
      <vt:lpstr>LITERATURE SURVEY  </vt:lpstr>
      <vt:lpstr>LITERATURE SURVEY  </vt:lpstr>
      <vt:lpstr>LITERATURE SURVEY  </vt:lpstr>
      <vt:lpstr>LITERATURE SURVEY  </vt:lpstr>
      <vt:lpstr>LITERATURE SURVEY  </vt:lpstr>
      <vt:lpstr>LITERATURE SURVEY  </vt:lpstr>
      <vt:lpstr>LITERATURE SURVEY  </vt:lpstr>
      <vt:lpstr>LITERATURE SURVEY  </vt:lpstr>
      <vt:lpstr>GAP ANALYSIS AND OUTCOME OF LITERATURE SURVEY</vt:lpstr>
      <vt:lpstr>GAP ANALYSIS AND OUTCOME OF LITERATURE SURVEY</vt:lpstr>
      <vt:lpstr>GAP ANALYSIS AND OUTCOME OF LITERATURE SURVEY</vt:lpstr>
      <vt:lpstr>GAP ANALYSIS AND OUTCOME OF LITERATURE SURVEY</vt:lpstr>
      <vt:lpstr>GAP ANALYSIS AND OUTCOME OF LITERATURE SURVEY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Muccharla Praveen</cp:lastModifiedBy>
  <cp:revision>1</cp:revision>
  <dcterms:modified xsi:type="dcterms:W3CDTF">2025-11-15T14:31:14Z</dcterms:modified>
</cp:coreProperties>
</file>